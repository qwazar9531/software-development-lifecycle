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7" d="100"/>
          <a:sy n="117" d="100"/>
        </p:scale>
        <p:origin x="31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067630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F3A5F"/>
          </a:solidFill>
          <a:ln w="12700">
            <a:solidFill>
              <a:srgbClr val="1F3A5F"/>
            </a:solidFill>
            <a:prstDash val="solid"/>
          </a:ln>
        </p:spPr>
      </p:sp>
      <p:sp>
        <p:nvSpPr>
          <p:cNvPr id="3" name="Text 1"/>
          <p:cNvSpPr/>
          <p:nvPr/>
        </p:nvSpPr>
        <p:spPr>
          <a:xfrm>
            <a:off x="502920" y="6519672"/>
            <a:ext cx="4846320" cy="164592"/>
          </a:xfrm>
          <a:prstGeom prst="rect">
            <a:avLst/>
          </a:prstGeom>
          <a:noFill/>
          <a:ln/>
        </p:spPr>
        <p:txBody>
          <a:bodyPr wrap="square" lIns="0" tIns="0" rIns="0" bIns="0" rtlCol="0" anchor="ctr"/>
          <a:lstStyle/>
          <a:p>
            <a:pPr marL="0" indent="0">
              <a:buNone/>
            </a:pPr>
            <a:r>
              <a:rPr lang="en-US" sz="800" dirty="0">
                <a:solidFill>
                  <a:srgbClr val="64748B"/>
                </a:solidFill>
                <a:latin typeface="Aptos" pitchFamily="34" charset="0"/>
                <a:ea typeface="Aptos" pitchFamily="34" charset="-122"/>
                <a:cs typeface="Aptos" pitchFamily="34" charset="-120"/>
              </a:rPr>
              <a:t>ChadaTech • SNHU Travel Agile Pilot</a:t>
            </a:r>
            <a:endParaRPr lang="en-US" sz="800" dirty="0"/>
          </a:p>
        </p:txBody>
      </p:sp>
      <p:sp>
        <p:nvSpPr>
          <p:cNvPr id="4" name="Text 2"/>
          <p:cNvSpPr/>
          <p:nvPr/>
        </p:nvSpPr>
        <p:spPr>
          <a:xfrm>
            <a:off x="9784080" y="6519672"/>
            <a:ext cx="1874520" cy="164592"/>
          </a:xfrm>
          <a:prstGeom prst="rect">
            <a:avLst/>
          </a:prstGeom>
          <a:noFill/>
          <a:ln/>
        </p:spPr>
        <p:txBody>
          <a:bodyPr wrap="square" lIns="0" tIns="0" rIns="0" bIns="0" rtlCol="0" anchor="ctr"/>
          <a:lstStyle/>
          <a:p>
            <a:pPr marL="0" indent="0" algn="r">
              <a:buNone/>
            </a:pPr>
            <a:r>
              <a:rPr lang="en-US" sz="800" dirty="0">
                <a:solidFill>
                  <a:srgbClr val="64748B"/>
                </a:solidFill>
                <a:latin typeface="Aptos" pitchFamily="34" charset="0"/>
                <a:ea typeface="Aptos" pitchFamily="34" charset="-122"/>
                <a:cs typeface="Aptos" pitchFamily="34" charset="-120"/>
              </a:rPr>
              <a:t>CS 250 Final Project</a:t>
            </a:r>
            <a:endParaRPr lang="en-US" sz="800" dirty="0"/>
          </a:p>
        </p:txBody>
      </p:sp>
      <p:sp>
        <p:nvSpPr>
          <p:cNvPr id="25" name="Slide Number Placeholder 0"/>
          <p:cNvSpPr>
            <a:spLocks noGrp="1"/>
          </p:cNvSpPr>
          <p:nvPr>
            <p:ph type="sldNum" sz="quarter" idx="4294967295"/>
          </p:nvPr>
        </p:nvSpPr>
        <p:spPr>
          <a:xfrm>
            <a:off x="11686032" y="6501384"/>
            <a:ext cx="22860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Aptos"/>
                <a:ea typeface="Aptos"/>
                <a:cs typeface="Aptos"/>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86032" y="6501384"/>
            <a:ext cx="22860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Aptos"/>
                <a:ea typeface="Aptos"/>
                <a:cs typeface="Aptos"/>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A5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F3A5F"/>
          </a:solidFill>
          <a:ln w="12700">
            <a:solidFill>
              <a:srgbClr val="1F3A5F"/>
            </a:solidFill>
            <a:prstDash val="solid"/>
          </a:ln>
        </p:spPr>
        <p:txBody>
          <a:bodyPr/>
          <a:lstStyle/>
          <a:p>
            <a:endParaRPr lang="en-US"/>
          </a:p>
        </p:txBody>
      </p:sp>
      <p:sp>
        <p:nvSpPr>
          <p:cNvPr id="3" name="Shape 1"/>
          <p:cNvSpPr/>
          <p:nvPr/>
        </p:nvSpPr>
        <p:spPr>
          <a:xfrm>
            <a:off x="8046720" y="594360"/>
            <a:ext cx="3291840" cy="3291840"/>
          </a:xfrm>
          <a:prstGeom prst="ellipse">
            <a:avLst/>
          </a:prstGeom>
          <a:solidFill>
            <a:srgbClr val="274C77">
              <a:alpha val="82000"/>
            </a:srgbClr>
          </a:solidFill>
          <a:ln w="12700">
            <a:solidFill>
              <a:srgbClr val="274C77">
                <a:alpha val="0"/>
              </a:srgbClr>
            </a:solidFill>
            <a:prstDash val="solid"/>
          </a:ln>
        </p:spPr>
        <p:txBody>
          <a:bodyPr/>
          <a:lstStyle/>
          <a:p>
            <a:endParaRPr lang="en-US"/>
          </a:p>
        </p:txBody>
      </p:sp>
      <p:sp>
        <p:nvSpPr>
          <p:cNvPr id="4" name="Shape 2"/>
          <p:cNvSpPr/>
          <p:nvPr/>
        </p:nvSpPr>
        <p:spPr>
          <a:xfrm>
            <a:off x="8961120" y="1508760"/>
            <a:ext cx="2377440" cy="2377440"/>
          </a:xfrm>
          <a:prstGeom prst="ellipse">
            <a:avLst/>
          </a:prstGeom>
          <a:solidFill>
            <a:srgbClr val="2A9D8F">
              <a:alpha val="88000"/>
            </a:srgbClr>
          </a:solidFill>
          <a:ln w="12700">
            <a:solidFill>
              <a:srgbClr val="2A9D8F">
                <a:alpha val="0"/>
              </a:srgbClr>
            </a:solidFill>
            <a:prstDash val="solid"/>
          </a:ln>
        </p:spPr>
        <p:txBody>
          <a:bodyPr/>
          <a:lstStyle/>
          <a:p>
            <a:endParaRPr lang="en-US"/>
          </a:p>
        </p:txBody>
      </p:sp>
      <p:sp>
        <p:nvSpPr>
          <p:cNvPr id="5" name="Shape 3"/>
          <p:cNvSpPr/>
          <p:nvPr/>
        </p:nvSpPr>
        <p:spPr>
          <a:xfrm rot="600000">
            <a:off x="8458200" y="960120"/>
            <a:ext cx="2926080" cy="2926080"/>
          </a:xfrm>
          <a:prstGeom prst="arc">
            <a:avLst/>
          </a:prstGeom>
          <a:solidFill>
            <a:srgbClr val="1F3A5F">
              <a:alpha val="0"/>
            </a:srgbClr>
          </a:solidFill>
          <a:ln w="63500">
            <a:solidFill>
              <a:srgbClr val="E9C46A"/>
            </a:solidFill>
            <a:prstDash val="solid"/>
          </a:ln>
        </p:spPr>
        <p:txBody>
          <a:bodyPr/>
          <a:lstStyle/>
          <a:p>
            <a:endParaRPr lang="en-US"/>
          </a:p>
        </p:txBody>
      </p:sp>
      <p:sp>
        <p:nvSpPr>
          <p:cNvPr id="6" name="Text 4"/>
          <p:cNvSpPr/>
          <p:nvPr/>
        </p:nvSpPr>
        <p:spPr>
          <a:xfrm>
            <a:off x="731520" y="1234440"/>
            <a:ext cx="6858000" cy="685800"/>
          </a:xfrm>
          <a:prstGeom prst="rect">
            <a:avLst/>
          </a:prstGeom>
          <a:noFill/>
          <a:ln/>
        </p:spPr>
        <p:txBody>
          <a:bodyPr wrap="square" lIns="0" tIns="0" rIns="0" bIns="0" rtlCol="0" anchor="ctr"/>
          <a:lstStyle/>
          <a:p>
            <a:pPr marL="0" indent="0">
              <a:buNone/>
            </a:pPr>
            <a:r>
              <a:rPr lang="en-US" sz="3400" b="1" dirty="0">
                <a:solidFill>
                  <a:srgbClr val="FFFFFF"/>
                </a:solidFill>
                <a:latin typeface="Aptos Display" pitchFamily="34" charset="0"/>
                <a:ea typeface="Aptos Display" pitchFamily="34" charset="-122"/>
                <a:cs typeface="Aptos Display" pitchFamily="34" charset="-120"/>
              </a:rPr>
              <a:t>Scrum-Agile vs. Waterfall</a:t>
            </a:r>
            <a:endParaRPr lang="en-US" sz="3400" dirty="0"/>
          </a:p>
        </p:txBody>
      </p:sp>
      <p:sp>
        <p:nvSpPr>
          <p:cNvPr id="7" name="Text 5"/>
          <p:cNvSpPr/>
          <p:nvPr/>
        </p:nvSpPr>
        <p:spPr>
          <a:xfrm>
            <a:off x="749808" y="2011680"/>
            <a:ext cx="6583680" cy="411480"/>
          </a:xfrm>
          <a:prstGeom prst="rect">
            <a:avLst/>
          </a:prstGeom>
          <a:noFill/>
          <a:ln/>
        </p:spPr>
        <p:txBody>
          <a:bodyPr wrap="square" lIns="0" tIns="0" rIns="0" bIns="0" rtlCol="0" anchor="ctr"/>
          <a:lstStyle/>
          <a:p>
            <a:pPr marL="0" indent="0">
              <a:buNone/>
            </a:pPr>
            <a:r>
              <a:rPr lang="en-US" sz="2200" dirty="0">
                <a:solidFill>
                  <a:srgbClr val="E9C46A"/>
                </a:solidFill>
                <a:latin typeface="Aptos Display" pitchFamily="34" charset="0"/>
                <a:ea typeface="Aptos Display" pitchFamily="34" charset="-122"/>
                <a:cs typeface="Aptos Display" pitchFamily="34" charset="-120"/>
              </a:rPr>
              <a:t>Lessons from the SNHU Travel Pilot</a:t>
            </a:r>
            <a:endParaRPr lang="en-US" sz="2200" dirty="0"/>
          </a:p>
        </p:txBody>
      </p:sp>
      <p:sp>
        <p:nvSpPr>
          <p:cNvPr id="8" name="Text 6"/>
          <p:cNvSpPr/>
          <p:nvPr/>
        </p:nvSpPr>
        <p:spPr>
          <a:xfrm>
            <a:off x="749808" y="2606040"/>
            <a:ext cx="6035040" cy="320040"/>
          </a:xfrm>
          <a:prstGeom prst="rect">
            <a:avLst/>
          </a:prstGeom>
          <a:noFill/>
          <a:ln/>
        </p:spPr>
        <p:txBody>
          <a:bodyPr wrap="square" lIns="0" tIns="0" rIns="0" bIns="0" rtlCol="0" anchor="ctr"/>
          <a:lstStyle/>
          <a:p>
            <a:pPr marL="0" indent="0">
              <a:buNone/>
            </a:pPr>
            <a:r>
              <a:rPr lang="en-US" sz="1500" dirty="0">
                <a:solidFill>
                  <a:srgbClr val="DCE7F2"/>
                </a:solidFill>
                <a:latin typeface="Aptos" pitchFamily="34" charset="0"/>
                <a:ea typeface="Aptos" pitchFamily="34" charset="-122"/>
                <a:cs typeface="Aptos" pitchFamily="34" charset="-120"/>
              </a:rPr>
              <a:t>Recommendation for Chada Tech leadership</a:t>
            </a:r>
            <a:endParaRPr lang="en-US" sz="1500" dirty="0"/>
          </a:p>
        </p:txBody>
      </p:sp>
      <p:sp>
        <p:nvSpPr>
          <p:cNvPr id="9" name="Shape 7"/>
          <p:cNvSpPr/>
          <p:nvPr/>
        </p:nvSpPr>
        <p:spPr>
          <a:xfrm>
            <a:off x="749808" y="3154680"/>
            <a:ext cx="2011680" cy="0"/>
          </a:xfrm>
          <a:prstGeom prst="line">
            <a:avLst/>
          </a:prstGeom>
          <a:noFill/>
          <a:ln w="38100">
            <a:solidFill>
              <a:srgbClr val="2A9D8F"/>
            </a:solidFill>
            <a:prstDash val="solid"/>
          </a:ln>
        </p:spPr>
        <p:txBody>
          <a:bodyPr/>
          <a:lstStyle/>
          <a:p>
            <a:endParaRPr lang="en-US"/>
          </a:p>
        </p:txBody>
      </p:sp>
      <p:sp>
        <p:nvSpPr>
          <p:cNvPr id="10" name="Text 8"/>
          <p:cNvSpPr/>
          <p:nvPr/>
        </p:nvSpPr>
        <p:spPr>
          <a:xfrm>
            <a:off x="749808" y="3401568"/>
            <a:ext cx="4389120" cy="685800"/>
          </a:xfrm>
          <a:prstGeom prst="rect">
            <a:avLst/>
          </a:prstGeom>
          <a:noFill/>
          <a:ln/>
        </p:spPr>
        <p:txBody>
          <a:bodyPr wrap="square" lIns="0" tIns="0" rIns="0" bIns="0" rtlCol="0" anchor="ctr"/>
          <a:lstStyle/>
          <a:p>
            <a:pPr marL="0" indent="0">
              <a:buNone/>
            </a:pPr>
            <a:r>
              <a:rPr lang="en-US" sz="1300" dirty="0">
                <a:solidFill>
                  <a:srgbClr val="FFFFFF"/>
                </a:solidFill>
                <a:latin typeface="Aptos" pitchFamily="34" charset="0"/>
                <a:ea typeface="Aptos" pitchFamily="34" charset="-122"/>
                <a:cs typeface="Aptos" pitchFamily="34" charset="-120"/>
              </a:rPr>
              <a:t>Erik Caswell</a:t>
            </a:r>
            <a:endParaRPr lang="en-US" sz="1300" dirty="0"/>
          </a:p>
          <a:p>
            <a:pPr marL="0" indent="0">
              <a:buNone/>
            </a:pPr>
            <a:r>
              <a:rPr lang="en-US" sz="1300" dirty="0">
                <a:solidFill>
                  <a:srgbClr val="FFFFFF"/>
                </a:solidFill>
                <a:latin typeface="Aptos" pitchFamily="34" charset="0"/>
                <a:ea typeface="Aptos" pitchFamily="34" charset="-122"/>
                <a:cs typeface="Aptos" pitchFamily="34" charset="-120"/>
              </a:rPr>
              <a:t>CS 250 Software Development Lifecycle</a:t>
            </a:r>
            <a:endParaRPr lang="en-US" sz="1300" dirty="0"/>
          </a:p>
        </p:txBody>
      </p:sp>
      <p:sp>
        <p:nvSpPr>
          <p:cNvPr id="11" name="Text 9"/>
          <p:cNvSpPr/>
          <p:nvPr/>
        </p:nvSpPr>
        <p:spPr>
          <a:xfrm>
            <a:off x="749808" y="4983480"/>
            <a:ext cx="6675120" cy="777240"/>
          </a:xfrm>
          <a:prstGeom prst="rect">
            <a:avLst/>
          </a:prstGeom>
          <a:noFill/>
          <a:ln/>
        </p:spPr>
        <p:txBody>
          <a:bodyPr wrap="square" lIns="254" tIns="254" rIns="254" bIns="254" rtlCol="0" anchor="ctr">
            <a:normAutofit/>
          </a:bodyPr>
          <a:lstStyle/>
          <a:p>
            <a:pPr marL="0" indent="0">
              <a:buNone/>
            </a:pPr>
            <a:r>
              <a:rPr lang="en-US" sz="1600" dirty="0">
                <a:solidFill>
                  <a:srgbClr val="E8EEF5"/>
                </a:solidFill>
                <a:latin typeface="Aptos" pitchFamily="34" charset="0"/>
                <a:ea typeface="Aptos" pitchFamily="34" charset="-122"/>
                <a:cs typeface="Aptos" pitchFamily="34" charset="-120"/>
              </a:rPr>
              <a:t>Goal: To explain Scrum roles and Agile phases, compare Waterfall, and recommend the right approach for future Chada Tech projects.</a:t>
            </a:r>
            <a:endParaRPr lang="en-US" sz="1600" dirty="0"/>
          </a:p>
        </p:txBody>
      </p:sp>
      <p:pic>
        <p:nvPicPr>
          <p:cNvPr id="13" name="Picture 12">
            <a:extLst>
              <a:ext uri="{FF2B5EF4-FFF2-40B4-BE49-F238E27FC236}">
                <a16:creationId xmlns:a16="http://schemas.microsoft.com/office/drawing/2014/main" id="{A2A86844-249D-71EE-E832-5B1EEB89B75A}"/>
              </a:ext>
            </a:extLst>
          </p:cNvPr>
          <p:cNvPicPr>
            <a:picLocks noChangeAspect="1"/>
          </p:cNvPicPr>
          <p:nvPr/>
        </p:nvPicPr>
        <p:blipFill>
          <a:blip r:embed="rId3"/>
          <a:stretch>
            <a:fillRect/>
          </a:stretch>
        </p:blipFill>
        <p:spPr>
          <a:xfrm>
            <a:off x="8474821" y="1355271"/>
            <a:ext cx="2435637" cy="179940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Box 1"/>
          <p:cNvSpPr txBox="1"/>
          <p:nvPr/>
        </p:nvSpPr>
        <p:spPr>
          <a:xfrm>
            <a:off x="594360" y="411480"/>
            <a:ext cx="3261983" cy="507831"/>
          </a:xfrm>
          <a:prstGeom prst="rect">
            <a:avLst/>
          </a:prstGeom>
          <a:noFill/>
        </p:spPr>
        <p:txBody>
          <a:bodyPr wrap="none">
            <a:spAutoFit/>
          </a:bodyPr>
          <a:lstStyle/>
          <a:p>
            <a:r>
              <a:rPr sz="2700" b="1" dirty="0">
                <a:solidFill>
                  <a:srgbClr val="1E3C64"/>
                </a:solidFill>
                <a:latin typeface="Aptos Display"/>
              </a:rPr>
              <a:t>1. Scrum Team Roles</a:t>
            </a:r>
          </a:p>
        </p:txBody>
      </p:sp>
      <p:sp>
        <p:nvSpPr>
          <p:cNvPr id="3" name="TextBox 2"/>
          <p:cNvSpPr txBox="1"/>
          <p:nvPr/>
        </p:nvSpPr>
        <p:spPr>
          <a:xfrm>
            <a:off x="612648" y="932688"/>
            <a:ext cx="10698480" cy="347472"/>
          </a:xfrm>
          <a:prstGeom prst="rect">
            <a:avLst/>
          </a:prstGeom>
          <a:noFill/>
        </p:spPr>
        <p:txBody>
          <a:bodyPr wrap="none">
            <a:spAutoFit/>
          </a:bodyPr>
          <a:lstStyle/>
          <a:p>
            <a:r>
              <a:rPr sz="1300">
                <a:solidFill>
                  <a:srgbClr val="607796"/>
                </a:solidFill>
                <a:latin typeface="Aptos"/>
              </a:rPr>
              <a:t>Each role contributes a different perspective while the team works toward the same Sprint Goal.</a:t>
            </a:r>
          </a:p>
        </p:txBody>
      </p:sp>
      <p:sp>
        <p:nvSpPr>
          <p:cNvPr id="4" name="Rounded Rectangle 3"/>
          <p:cNvSpPr/>
          <p:nvPr/>
        </p:nvSpPr>
        <p:spPr>
          <a:xfrm>
            <a:off x="640080" y="1389888"/>
            <a:ext cx="5440680" cy="1572768"/>
          </a:xfrm>
          <a:prstGeom prst="roundRect">
            <a:avLst/>
          </a:prstGeom>
          <a:solidFill>
            <a:srgbClr val="FEF6DA"/>
          </a:solidFill>
          <a:ln w="12700">
            <a:solidFill>
              <a:srgbClr val="D2D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389888"/>
            <a:ext cx="91440" cy="1572768"/>
          </a:xfrm>
          <a:prstGeom prst="rect">
            <a:avLst/>
          </a:prstGeom>
          <a:solidFill>
            <a:srgbClr val="EEB8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545336"/>
            <a:ext cx="5029200" cy="347472"/>
          </a:xfrm>
          <a:prstGeom prst="rect">
            <a:avLst/>
          </a:prstGeom>
          <a:noFill/>
        </p:spPr>
        <p:txBody>
          <a:bodyPr wrap="none">
            <a:spAutoFit/>
          </a:bodyPr>
          <a:lstStyle/>
          <a:p>
            <a:r>
              <a:rPr sz="1700" b="1">
                <a:solidFill>
                  <a:srgbClr val="1E3C64"/>
                </a:solidFill>
                <a:latin typeface="Aptos Display"/>
              </a:rPr>
              <a:t>Product Owner</a:t>
            </a:r>
          </a:p>
        </p:txBody>
      </p:sp>
      <p:sp>
        <p:nvSpPr>
          <p:cNvPr id="7" name="TextBox 6"/>
          <p:cNvSpPr txBox="1"/>
          <p:nvPr/>
        </p:nvSpPr>
        <p:spPr>
          <a:xfrm>
            <a:off x="868680" y="1956816"/>
            <a:ext cx="5029200" cy="884858"/>
          </a:xfrm>
          <a:prstGeom prst="rect">
            <a:avLst/>
          </a:prstGeom>
          <a:noFill/>
        </p:spPr>
        <p:txBody>
          <a:bodyPr wrap="square" lIns="0" tIns="0" rIns="0" bIns="0">
            <a:spAutoFit/>
          </a:bodyPr>
          <a:lstStyle/>
          <a:p>
            <a:pPr>
              <a:spcAft>
                <a:spcPts val="0"/>
              </a:spcAft>
              <a:defRPr sz="1150">
                <a:solidFill>
                  <a:srgbClr val="222D3D"/>
                </a:solidFill>
                <a:latin typeface="Aptos"/>
              </a:defRPr>
            </a:pPr>
            <a:r>
              <a:rPr dirty="0"/>
              <a:t>Prioritizes the Product Backlog, clarifies customer needs, and keeps the team focused on value.</a:t>
            </a:r>
            <a:br>
              <a:rPr dirty="0"/>
            </a:br>
            <a:br>
              <a:rPr dirty="0"/>
            </a:br>
            <a:r>
              <a:rPr dirty="0"/>
              <a:t>SNHU Travel: </a:t>
            </a:r>
            <a:r>
              <a:rPr lang="en-US" dirty="0"/>
              <a:t>T</a:t>
            </a:r>
            <a:r>
              <a:rPr dirty="0"/>
              <a:t>urned focus</a:t>
            </a:r>
            <a:r>
              <a:rPr lang="en-US" dirty="0"/>
              <a:t> </a:t>
            </a:r>
            <a:r>
              <a:rPr dirty="0"/>
              <a:t>group requests into prioritized user stories and acceptance criteria.</a:t>
            </a:r>
          </a:p>
        </p:txBody>
      </p:sp>
      <p:sp>
        <p:nvSpPr>
          <p:cNvPr id="8" name="Rounded Rectangle 7"/>
          <p:cNvSpPr/>
          <p:nvPr/>
        </p:nvSpPr>
        <p:spPr>
          <a:xfrm>
            <a:off x="6263640" y="1389888"/>
            <a:ext cx="5440680" cy="1572768"/>
          </a:xfrm>
          <a:prstGeom prst="roundRect">
            <a:avLst/>
          </a:prstGeom>
          <a:solidFill>
            <a:srgbClr val="E2F2EE"/>
          </a:solidFill>
          <a:ln w="12700">
            <a:solidFill>
              <a:srgbClr val="D2D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263640" y="1389888"/>
            <a:ext cx="91440" cy="1572768"/>
          </a:xfrm>
          <a:prstGeom prst="rect">
            <a:avLst/>
          </a:prstGeom>
          <a:solidFill>
            <a:srgbClr val="2C99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92240" y="1545336"/>
            <a:ext cx="5029200" cy="347472"/>
          </a:xfrm>
          <a:prstGeom prst="rect">
            <a:avLst/>
          </a:prstGeom>
          <a:noFill/>
        </p:spPr>
        <p:txBody>
          <a:bodyPr wrap="none">
            <a:spAutoFit/>
          </a:bodyPr>
          <a:lstStyle/>
          <a:p>
            <a:r>
              <a:rPr sz="1700" b="1">
                <a:solidFill>
                  <a:srgbClr val="1E3C64"/>
                </a:solidFill>
                <a:latin typeface="Aptos Display"/>
              </a:rPr>
              <a:t>Scrum Master</a:t>
            </a:r>
          </a:p>
        </p:txBody>
      </p:sp>
      <p:sp>
        <p:nvSpPr>
          <p:cNvPr id="11" name="TextBox 10"/>
          <p:cNvSpPr txBox="1"/>
          <p:nvPr/>
        </p:nvSpPr>
        <p:spPr>
          <a:xfrm>
            <a:off x="6492240" y="1956816"/>
            <a:ext cx="5029200" cy="884858"/>
          </a:xfrm>
          <a:prstGeom prst="rect">
            <a:avLst/>
          </a:prstGeom>
          <a:noFill/>
        </p:spPr>
        <p:txBody>
          <a:bodyPr wrap="square" lIns="0" tIns="0" rIns="0" bIns="0">
            <a:spAutoFit/>
          </a:bodyPr>
          <a:lstStyle/>
          <a:p>
            <a:pPr>
              <a:spcAft>
                <a:spcPts val="0"/>
              </a:spcAft>
              <a:defRPr sz="1150">
                <a:solidFill>
                  <a:srgbClr val="222D3D"/>
                </a:solidFill>
                <a:latin typeface="Aptos"/>
              </a:defRPr>
            </a:pPr>
            <a:r>
              <a:rPr dirty="0"/>
              <a:t>Supports effective Scrum practices, removes or helps resolve obstacles, and encourages</a:t>
            </a:r>
            <a:r>
              <a:rPr lang="en-US" dirty="0"/>
              <a:t> team</a:t>
            </a:r>
            <a:r>
              <a:rPr dirty="0"/>
              <a:t> collaboration.</a:t>
            </a:r>
            <a:br>
              <a:rPr dirty="0"/>
            </a:br>
            <a:br>
              <a:rPr dirty="0"/>
            </a:br>
            <a:r>
              <a:rPr dirty="0"/>
              <a:t>SNHU Travel: </a:t>
            </a:r>
            <a:r>
              <a:rPr lang="en-US" dirty="0"/>
              <a:t>U</a:t>
            </a:r>
            <a:r>
              <a:rPr dirty="0"/>
              <a:t>sed team agreements and Scrum events to keep work visible and coordinated.</a:t>
            </a:r>
          </a:p>
        </p:txBody>
      </p:sp>
      <p:sp>
        <p:nvSpPr>
          <p:cNvPr id="12" name="Rounded Rectangle 11"/>
          <p:cNvSpPr/>
          <p:nvPr/>
        </p:nvSpPr>
        <p:spPr>
          <a:xfrm>
            <a:off x="640080" y="3182112"/>
            <a:ext cx="5440680" cy="1572768"/>
          </a:xfrm>
          <a:prstGeom prst="roundRect">
            <a:avLst/>
          </a:prstGeom>
          <a:solidFill>
            <a:srgbClr val="FCECE2"/>
          </a:solidFill>
          <a:ln w="12700">
            <a:solidFill>
              <a:srgbClr val="D2D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40080" y="3182112"/>
            <a:ext cx="91440" cy="1572768"/>
          </a:xfrm>
          <a:prstGeom prst="rect">
            <a:avLst/>
          </a:prstGeom>
          <a:solidFill>
            <a:srgbClr val="F191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68680" y="3337560"/>
            <a:ext cx="5029200" cy="347472"/>
          </a:xfrm>
          <a:prstGeom prst="rect">
            <a:avLst/>
          </a:prstGeom>
          <a:noFill/>
        </p:spPr>
        <p:txBody>
          <a:bodyPr wrap="none">
            <a:spAutoFit/>
          </a:bodyPr>
          <a:lstStyle/>
          <a:p>
            <a:r>
              <a:rPr sz="1700" b="1">
                <a:solidFill>
                  <a:srgbClr val="1E3C64"/>
                </a:solidFill>
                <a:latin typeface="Aptos Display"/>
              </a:rPr>
              <a:t>Developer</a:t>
            </a:r>
          </a:p>
        </p:txBody>
      </p:sp>
      <p:sp>
        <p:nvSpPr>
          <p:cNvPr id="15" name="TextBox 14"/>
          <p:cNvSpPr txBox="1"/>
          <p:nvPr/>
        </p:nvSpPr>
        <p:spPr>
          <a:xfrm>
            <a:off x="868680" y="3749039"/>
            <a:ext cx="5029200" cy="884858"/>
          </a:xfrm>
          <a:prstGeom prst="rect">
            <a:avLst/>
          </a:prstGeom>
          <a:noFill/>
        </p:spPr>
        <p:txBody>
          <a:bodyPr wrap="square" lIns="0" tIns="0" rIns="0" bIns="0">
            <a:spAutoFit/>
          </a:bodyPr>
          <a:lstStyle/>
          <a:p>
            <a:pPr>
              <a:spcAft>
                <a:spcPts val="0"/>
              </a:spcAft>
              <a:defRPr sz="1150">
                <a:solidFill>
                  <a:srgbClr val="222D3D"/>
                </a:solidFill>
                <a:latin typeface="Aptos"/>
              </a:defRPr>
            </a:pPr>
            <a:r>
              <a:rPr dirty="0"/>
              <a:t>Builds and updates the working product and turns selected user stories into functional software.</a:t>
            </a:r>
            <a:br>
              <a:rPr dirty="0"/>
            </a:br>
            <a:br>
              <a:rPr dirty="0"/>
            </a:br>
            <a:r>
              <a:rPr dirty="0"/>
              <a:t>SNHU Travel: </a:t>
            </a:r>
            <a:r>
              <a:rPr lang="en-US" dirty="0"/>
              <a:t>M</a:t>
            </a:r>
            <a:r>
              <a:rPr dirty="0"/>
              <a:t>odified the Java interface and implemented the Top Destinations feature.</a:t>
            </a:r>
          </a:p>
        </p:txBody>
      </p:sp>
      <p:sp>
        <p:nvSpPr>
          <p:cNvPr id="16" name="Rounded Rectangle 15"/>
          <p:cNvSpPr/>
          <p:nvPr/>
        </p:nvSpPr>
        <p:spPr>
          <a:xfrm>
            <a:off x="6263640" y="3182112"/>
            <a:ext cx="5440680" cy="1572768"/>
          </a:xfrm>
          <a:prstGeom prst="roundRect">
            <a:avLst/>
          </a:prstGeom>
          <a:solidFill>
            <a:srgbClr val="EBECFA"/>
          </a:solidFill>
          <a:ln w="12700">
            <a:solidFill>
              <a:srgbClr val="D2D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263640" y="3182112"/>
            <a:ext cx="91440" cy="1572768"/>
          </a:xfrm>
          <a:prstGeom prst="rect">
            <a:avLst/>
          </a:prstGeom>
          <a:solidFill>
            <a:srgbClr val="6F66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92240" y="3337560"/>
            <a:ext cx="5029200" cy="347472"/>
          </a:xfrm>
          <a:prstGeom prst="rect">
            <a:avLst/>
          </a:prstGeom>
          <a:noFill/>
        </p:spPr>
        <p:txBody>
          <a:bodyPr wrap="none">
            <a:spAutoFit/>
          </a:bodyPr>
          <a:lstStyle/>
          <a:p>
            <a:r>
              <a:rPr sz="1700" b="1">
                <a:solidFill>
                  <a:srgbClr val="1E3C64"/>
                </a:solidFill>
                <a:latin typeface="Aptos Display"/>
              </a:rPr>
              <a:t>Tester</a:t>
            </a:r>
          </a:p>
        </p:txBody>
      </p:sp>
      <p:sp>
        <p:nvSpPr>
          <p:cNvPr id="19" name="TextBox 18"/>
          <p:cNvSpPr txBox="1"/>
          <p:nvPr/>
        </p:nvSpPr>
        <p:spPr>
          <a:xfrm>
            <a:off x="6492240" y="3749039"/>
            <a:ext cx="5029200" cy="884858"/>
          </a:xfrm>
          <a:prstGeom prst="rect">
            <a:avLst/>
          </a:prstGeom>
          <a:noFill/>
        </p:spPr>
        <p:txBody>
          <a:bodyPr wrap="square" lIns="0" tIns="0" rIns="0" bIns="0">
            <a:spAutoFit/>
          </a:bodyPr>
          <a:lstStyle/>
          <a:p>
            <a:pPr>
              <a:spcAft>
                <a:spcPts val="0"/>
              </a:spcAft>
              <a:defRPr sz="1150">
                <a:solidFill>
                  <a:srgbClr val="222D3D"/>
                </a:solidFill>
                <a:latin typeface="Aptos"/>
              </a:defRPr>
            </a:pPr>
            <a:r>
              <a:rPr dirty="0"/>
              <a:t>Verifies that features meet the user story and acceptance criteria, identifies defects, and asks for clarification when requirements are unclear.</a:t>
            </a:r>
            <a:br>
              <a:rPr dirty="0"/>
            </a:br>
            <a:br>
              <a:rPr dirty="0"/>
            </a:br>
            <a:r>
              <a:rPr dirty="0"/>
              <a:t>SNHU Travel: </a:t>
            </a:r>
            <a:r>
              <a:rPr lang="en-US" dirty="0"/>
              <a:t>C</a:t>
            </a:r>
            <a:r>
              <a:rPr dirty="0"/>
              <a:t>reated test cases and clarified details such as destination ranking, display format, and expected behavior.</a:t>
            </a:r>
          </a:p>
        </p:txBody>
      </p:sp>
      <p:sp>
        <p:nvSpPr>
          <p:cNvPr id="20" name="Rounded Rectangle 19"/>
          <p:cNvSpPr/>
          <p:nvPr/>
        </p:nvSpPr>
        <p:spPr>
          <a:xfrm>
            <a:off x="1051560" y="5010912"/>
            <a:ext cx="10104120" cy="969264"/>
          </a:xfrm>
          <a:prstGeom prst="roundRect">
            <a:avLst/>
          </a:prstGeom>
          <a:solidFill>
            <a:srgbClr val="FFFFFF"/>
          </a:solidFill>
          <a:ln w="12700">
            <a:solidFill>
              <a:srgbClr val="D2D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280159" y="5193792"/>
            <a:ext cx="1691641" cy="584775"/>
          </a:xfrm>
          <a:prstGeom prst="rect">
            <a:avLst/>
          </a:prstGeom>
          <a:noFill/>
        </p:spPr>
        <p:txBody>
          <a:bodyPr wrap="square">
            <a:spAutoFit/>
          </a:bodyPr>
          <a:lstStyle/>
          <a:p>
            <a:r>
              <a:rPr sz="1600" b="1" dirty="0">
                <a:solidFill>
                  <a:srgbClr val="1E3C64"/>
                </a:solidFill>
                <a:latin typeface="Aptos Display"/>
              </a:rPr>
              <a:t>Why they matter together</a:t>
            </a:r>
          </a:p>
        </p:txBody>
      </p:sp>
      <p:sp>
        <p:nvSpPr>
          <p:cNvPr id="22" name="TextBox 21"/>
          <p:cNvSpPr txBox="1"/>
          <p:nvPr/>
        </p:nvSpPr>
        <p:spPr>
          <a:xfrm>
            <a:off x="2971800" y="5207508"/>
            <a:ext cx="7635240" cy="594360"/>
          </a:xfrm>
          <a:prstGeom prst="rect">
            <a:avLst/>
          </a:prstGeom>
          <a:noFill/>
        </p:spPr>
        <p:txBody>
          <a:bodyPr wrap="square">
            <a:spAutoFit/>
          </a:bodyPr>
          <a:lstStyle/>
          <a:p>
            <a:pPr>
              <a:defRPr sz="1150">
                <a:solidFill>
                  <a:srgbClr val="222D3D"/>
                </a:solidFill>
                <a:latin typeface="Aptos"/>
              </a:defRPr>
            </a:pPr>
            <a:r>
              <a:rPr dirty="0"/>
              <a:t>Product Owner defines value → Developer builds → Tester verifies → Scrum Master supports the team. Frequent communication between the roles reduces misunderstandings and helps each increment meet the user's needs.</a:t>
            </a:r>
          </a:p>
        </p:txBody>
      </p:sp>
      <p:sp>
        <p:nvSpPr>
          <p:cNvPr id="23" name="TextBox 22"/>
          <p:cNvSpPr txBox="1"/>
          <p:nvPr/>
        </p:nvSpPr>
        <p:spPr>
          <a:xfrm>
            <a:off x="640080" y="6217920"/>
            <a:ext cx="8046720" cy="256032"/>
          </a:xfrm>
          <a:prstGeom prst="rect">
            <a:avLst/>
          </a:prstGeom>
          <a:noFill/>
        </p:spPr>
        <p:txBody>
          <a:bodyPr wrap="none">
            <a:spAutoFit/>
          </a:bodyPr>
          <a:lstStyle/>
          <a:p>
            <a:r>
              <a:rPr sz="800" i="1">
                <a:solidFill>
                  <a:srgbClr val="607796"/>
                </a:solidFill>
                <a:latin typeface="Aptos"/>
              </a:rPr>
              <a:t>Source for Scrum accountabilities: Malmstadt (2024), Scrum.org. SNHU Travel examples are from course activities.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94360" y="438912"/>
            <a:ext cx="10881360" cy="411480"/>
          </a:xfrm>
          <a:prstGeom prst="rect">
            <a:avLst/>
          </a:prstGeom>
          <a:noFill/>
          <a:ln/>
        </p:spPr>
        <p:txBody>
          <a:bodyPr wrap="square" lIns="0" tIns="0" rIns="0" bIns="0" rtlCol="0" anchor="ctr"/>
          <a:lstStyle/>
          <a:p>
            <a:pPr marL="0" indent="0">
              <a:buNone/>
            </a:pPr>
            <a:r>
              <a:rPr lang="en-US" sz="2600" b="1" dirty="0">
                <a:solidFill>
                  <a:srgbClr val="1F3A5F"/>
                </a:solidFill>
                <a:latin typeface="Aptos Display" pitchFamily="34" charset="0"/>
                <a:ea typeface="Aptos Display" pitchFamily="34" charset="-122"/>
                <a:cs typeface="Aptos Display" pitchFamily="34" charset="-120"/>
              </a:rPr>
              <a:t>2. SDLC Phases in an Agile Approach</a:t>
            </a:r>
            <a:endParaRPr lang="en-US" sz="2600" dirty="0"/>
          </a:p>
        </p:txBody>
      </p:sp>
      <p:sp>
        <p:nvSpPr>
          <p:cNvPr id="3" name="Text 1"/>
          <p:cNvSpPr/>
          <p:nvPr/>
        </p:nvSpPr>
        <p:spPr>
          <a:xfrm>
            <a:off x="612648" y="877824"/>
            <a:ext cx="10698480" cy="274320"/>
          </a:xfrm>
          <a:prstGeom prst="rect">
            <a:avLst/>
          </a:prstGeom>
          <a:noFill/>
          <a:ln/>
        </p:spPr>
        <p:txBody>
          <a:bodyPr wrap="square" lIns="0" tIns="0" rIns="0" bIns="0" rtlCol="0" anchor="ctr"/>
          <a:lstStyle/>
          <a:p>
            <a:pPr marL="0" indent="0">
              <a:buNone/>
            </a:pPr>
            <a:r>
              <a:rPr lang="en-US" sz="1250" dirty="0">
                <a:solidFill>
                  <a:srgbClr val="64748B"/>
                </a:solidFill>
                <a:latin typeface="Aptos" pitchFamily="34" charset="0"/>
                <a:ea typeface="Aptos" pitchFamily="34" charset="-122"/>
                <a:cs typeface="Aptos" pitchFamily="34" charset="-120"/>
              </a:rPr>
              <a:t>Agile still uses the SDLC phases, but cycles through them repeatedly in small increments.</a:t>
            </a:r>
            <a:endParaRPr lang="en-US" sz="1250" dirty="0"/>
          </a:p>
        </p:txBody>
      </p:sp>
      <p:sp>
        <p:nvSpPr>
          <p:cNvPr id="4" name="Shape 2"/>
          <p:cNvSpPr/>
          <p:nvPr/>
        </p:nvSpPr>
        <p:spPr>
          <a:xfrm>
            <a:off x="685800" y="1828800"/>
            <a:ext cx="1234440" cy="1234440"/>
          </a:xfrm>
          <a:prstGeom prst="ellipse">
            <a:avLst/>
          </a:prstGeom>
          <a:solidFill>
            <a:srgbClr val="E9C46A"/>
          </a:solidFill>
          <a:ln w="12700">
            <a:solidFill>
              <a:srgbClr val="E9C46A"/>
            </a:solidFill>
            <a:prstDash val="solid"/>
          </a:ln>
        </p:spPr>
        <p:txBody>
          <a:bodyPr/>
          <a:lstStyle/>
          <a:p>
            <a:endParaRPr lang="en-US"/>
          </a:p>
        </p:txBody>
      </p:sp>
      <p:sp>
        <p:nvSpPr>
          <p:cNvPr id="5" name="Text 3"/>
          <p:cNvSpPr/>
          <p:nvPr/>
        </p:nvSpPr>
        <p:spPr>
          <a:xfrm>
            <a:off x="1088136" y="2139696"/>
            <a:ext cx="429768" cy="411480"/>
          </a:xfrm>
          <a:prstGeom prst="rect">
            <a:avLst/>
          </a:prstGeom>
          <a:noFill/>
          <a:ln/>
        </p:spPr>
        <p:txBody>
          <a:bodyPr wrap="square" lIns="0" tIns="0" rIns="0" bIns="0" rtlCol="0" anchor="ctr"/>
          <a:lstStyle/>
          <a:p>
            <a:pPr marL="0" indent="0" algn="ctr">
              <a:buNone/>
            </a:pPr>
            <a:r>
              <a:rPr lang="en-US" sz="2200" b="1" dirty="0">
                <a:solidFill>
                  <a:srgbClr val="FFFFFF"/>
                </a:solidFill>
                <a:latin typeface="Aptos Display" pitchFamily="34" charset="0"/>
                <a:ea typeface="Aptos Display" pitchFamily="34" charset="-122"/>
                <a:cs typeface="Aptos Display" pitchFamily="34" charset="-120"/>
              </a:rPr>
              <a:t>1</a:t>
            </a:r>
            <a:endParaRPr lang="en-US" sz="2200" dirty="0"/>
          </a:p>
        </p:txBody>
      </p:sp>
      <p:sp>
        <p:nvSpPr>
          <p:cNvPr id="6" name="Text 4"/>
          <p:cNvSpPr/>
          <p:nvPr/>
        </p:nvSpPr>
        <p:spPr>
          <a:xfrm>
            <a:off x="457200" y="3227832"/>
            <a:ext cx="1691640" cy="292608"/>
          </a:xfrm>
          <a:prstGeom prst="rect">
            <a:avLst/>
          </a:prstGeom>
          <a:noFill/>
          <a:ln/>
        </p:spPr>
        <p:txBody>
          <a:bodyPr wrap="square" lIns="0" tIns="0" rIns="0" bIns="0" rtlCol="0" anchor="ctr">
            <a:normAutofit/>
          </a:bodyPr>
          <a:lstStyle/>
          <a:p>
            <a:pPr marL="0" indent="0" algn="ctr">
              <a:buNone/>
            </a:pPr>
            <a:r>
              <a:rPr lang="en-US" sz="1400" b="1" dirty="0">
                <a:solidFill>
                  <a:srgbClr val="1F3A5F"/>
                </a:solidFill>
                <a:latin typeface="Aptos Display" pitchFamily="34" charset="0"/>
                <a:ea typeface="Aptos Display" pitchFamily="34" charset="-122"/>
                <a:cs typeface="Aptos Display" pitchFamily="34" charset="-120"/>
              </a:rPr>
              <a:t>Requirements</a:t>
            </a:r>
            <a:endParaRPr lang="en-US" sz="1400" dirty="0"/>
          </a:p>
        </p:txBody>
      </p:sp>
      <p:sp>
        <p:nvSpPr>
          <p:cNvPr id="7" name="Text 5"/>
          <p:cNvSpPr/>
          <p:nvPr/>
        </p:nvSpPr>
        <p:spPr>
          <a:xfrm>
            <a:off x="411480" y="3584448"/>
            <a:ext cx="1783080" cy="502920"/>
          </a:xfrm>
          <a:prstGeom prst="rect">
            <a:avLst/>
          </a:prstGeom>
          <a:noFill/>
          <a:ln/>
        </p:spPr>
        <p:txBody>
          <a:bodyPr wrap="square" lIns="127" tIns="127" rIns="127" bIns="127" rtlCol="0" anchor="ctr">
            <a:normAutofit/>
          </a:bodyPr>
          <a:lstStyle/>
          <a:p>
            <a:pPr marL="0" indent="0" algn="ctr">
              <a:buNone/>
            </a:pPr>
            <a:r>
              <a:rPr lang="en-US" sz="1050" dirty="0">
                <a:solidFill>
                  <a:srgbClr val="1F2937"/>
                </a:solidFill>
                <a:latin typeface="Aptos" pitchFamily="34" charset="0"/>
                <a:ea typeface="Aptos" pitchFamily="34" charset="-122"/>
                <a:cs typeface="Aptos" pitchFamily="34" charset="-120"/>
              </a:rPr>
              <a:t>User stories &amp; backlog</a:t>
            </a:r>
            <a:endParaRPr lang="en-US" sz="1050" dirty="0"/>
          </a:p>
        </p:txBody>
      </p:sp>
      <p:sp>
        <p:nvSpPr>
          <p:cNvPr id="8" name="Shape 6"/>
          <p:cNvSpPr/>
          <p:nvPr/>
        </p:nvSpPr>
        <p:spPr>
          <a:xfrm>
            <a:off x="2039112" y="2221992"/>
            <a:ext cx="347472" cy="438912"/>
          </a:xfrm>
          <a:prstGeom prst="chevron">
            <a:avLst/>
          </a:prstGeom>
          <a:solidFill>
            <a:srgbClr val="B7C4D3"/>
          </a:solidFill>
          <a:ln w="12700">
            <a:solidFill>
              <a:srgbClr val="B7C4D3"/>
            </a:solidFill>
            <a:prstDash val="solid"/>
          </a:ln>
        </p:spPr>
        <p:txBody>
          <a:bodyPr/>
          <a:lstStyle/>
          <a:p>
            <a:endParaRPr lang="en-US"/>
          </a:p>
        </p:txBody>
      </p:sp>
      <p:sp>
        <p:nvSpPr>
          <p:cNvPr id="9" name="Shape 7"/>
          <p:cNvSpPr/>
          <p:nvPr/>
        </p:nvSpPr>
        <p:spPr>
          <a:xfrm>
            <a:off x="2532888" y="1828800"/>
            <a:ext cx="1234440" cy="1234440"/>
          </a:xfrm>
          <a:prstGeom prst="ellipse">
            <a:avLst/>
          </a:prstGeom>
          <a:solidFill>
            <a:srgbClr val="F4A261"/>
          </a:solidFill>
          <a:ln w="12700">
            <a:solidFill>
              <a:srgbClr val="F4A261"/>
            </a:solidFill>
            <a:prstDash val="solid"/>
          </a:ln>
        </p:spPr>
        <p:txBody>
          <a:bodyPr/>
          <a:lstStyle/>
          <a:p>
            <a:endParaRPr lang="en-US"/>
          </a:p>
        </p:txBody>
      </p:sp>
      <p:sp>
        <p:nvSpPr>
          <p:cNvPr id="10" name="Text 8"/>
          <p:cNvSpPr/>
          <p:nvPr/>
        </p:nvSpPr>
        <p:spPr>
          <a:xfrm>
            <a:off x="2935224" y="2139696"/>
            <a:ext cx="429768" cy="411480"/>
          </a:xfrm>
          <a:prstGeom prst="rect">
            <a:avLst/>
          </a:prstGeom>
          <a:noFill/>
          <a:ln/>
        </p:spPr>
        <p:txBody>
          <a:bodyPr wrap="square" lIns="0" tIns="0" rIns="0" bIns="0" rtlCol="0" anchor="ctr"/>
          <a:lstStyle/>
          <a:p>
            <a:pPr marL="0" indent="0" algn="ctr">
              <a:buNone/>
            </a:pPr>
            <a:r>
              <a:rPr lang="en-US" sz="2200" b="1" dirty="0">
                <a:solidFill>
                  <a:srgbClr val="FFFFFF"/>
                </a:solidFill>
                <a:latin typeface="Aptos Display" pitchFamily="34" charset="0"/>
                <a:ea typeface="Aptos Display" pitchFamily="34" charset="-122"/>
                <a:cs typeface="Aptos Display" pitchFamily="34" charset="-120"/>
              </a:rPr>
              <a:t>2</a:t>
            </a:r>
            <a:endParaRPr lang="en-US" sz="2200" dirty="0"/>
          </a:p>
        </p:txBody>
      </p:sp>
      <p:sp>
        <p:nvSpPr>
          <p:cNvPr id="11" name="Text 9"/>
          <p:cNvSpPr/>
          <p:nvPr/>
        </p:nvSpPr>
        <p:spPr>
          <a:xfrm>
            <a:off x="2304288" y="3227832"/>
            <a:ext cx="1691640" cy="292608"/>
          </a:xfrm>
          <a:prstGeom prst="rect">
            <a:avLst/>
          </a:prstGeom>
          <a:noFill/>
          <a:ln/>
        </p:spPr>
        <p:txBody>
          <a:bodyPr wrap="square" lIns="0" tIns="0" rIns="0" bIns="0" rtlCol="0" anchor="ctr">
            <a:normAutofit/>
          </a:bodyPr>
          <a:lstStyle/>
          <a:p>
            <a:pPr marL="0" indent="0" algn="ctr">
              <a:buNone/>
            </a:pPr>
            <a:r>
              <a:rPr lang="en-US" sz="1400" b="1" dirty="0">
                <a:solidFill>
                  <a:srgbClr val="1F3A5F"/>
                </a:solidFill>
                <a:latin typeface="Aptos Display" pitchFamily="34" charset="0"/>
                <a:ea typeface="Aptos Display" pitchFamily="34" charset="-122"/>
                <a:cs typeface="Aptos Display" pitchFamily="34" charset="-120"/>
              </a:rPr>
              <a:t>Design</a:t>
            </a:r>
            <a:endParaRPr lang="en-US" sz="1400" dirty="0"/>
          </a:p>
        </p:txBody>
      </p:sp>
      <p:sp>
        <p:nvSpPr>
          <p:cNvPr id="12" name="Text 10"/>
          <p:cNvSpPr/>
          <p:nvPr/>
        </p:nvSpPr>
        <p:spPr>
          <a:xfrm>
            <a:off x="2258568" y="3584448"/>
            <a:ext cx="1783080" cy="502920"/>
          </a:xfrm>
          <a:prstGeom prst="rect">
            <a:avLst/>
          </a:prstGeom>
          <a:noFill/>
          <a:ln/>
        </p:spPr>
        <p:txBody>
          <a:bodyPr wrap="square" lIns="127" tIns="127" rIns="127" bIns="127" rtlCol="0" anchor="ctr">
            <a:normAutofit/>
          </a:bodyPr>
          <a:lstStyle/>
          <a:p>
            <a:pPr marL="0" indent="0" algn="ctr">
              <a:buNone/>
            </a:pPr>
            <a:r>
              <a:rPr lang="en-US" sz="1050" dirty="0">
                <a:solidFill>
                  <a:srgbClr val="1F2937"/>
                </a:solidFill>
                <a:latin typeface="Aptos" pitchFamily="34" charset="0"/>
                <a:ea typeface="Aptos" pitchFamily="34" charset="-122"/>
                <a:cs typeface="Aptos" pitchFamily="34" charset="-120"/>
              </a:rPr>
              <a:t>Small, workable solution</a:t>
            </a:r>
            <a:endParaRPr lang="en-US" sz="1050" dirty="0"/>
          </a:p>
        </p:txBody>
      </p:sp>
      <p:sp>
        <p:nvSpPr>
          <p:cNvPr id="13" name="Shape 11"/>
          <p:cNvSpPr/>
          <p:nvPr/>
        </p:nvSpPr>
        <p:spPr>
          <a:xfrm>
            <a:off x="3886200" y="2221992"/>
            <a:ext cx="347472" cy="438912"/>
          </a:xfrm>
          <a:prstGeom prst="chevron">
            <a:avLst/>
          </a:prstGeom>
          <a:solidFill>
            <a:srgbClr val="B7C4D3"/>
          </a:solidFill>
          <a:ln w="12700">
            <a:solidFill>
              <a:srgbClr val="B7C4D3"/>
            </a:solidFill>
            <a:prstDash val="solid"/>
          </a:ln>
        </p:spPr>
        <p:txBody>
          <a:bodyPr/>
          <a:lstStyle/>
          <a:p>
            <a:endParaRPr lang="en-US"/>
          </a:p>
        </p:txBody>
      </p:sp>
      <p:sp>
        <p:nvSpPr>
          <p:cNvPr id="14" name="Shape 12"/>
          <p:cNvSpPr/>
          <p:nvPr/>
        </p:nvSpPr>
        <p:spPr>
          <a:xfrm>
            <a:off x="4379976" y="1828800"/>
            <a:ext cx="1234440" cy="1234440"/>
          </a:xfrm>
          <a:prstGeom prst="ellipse">
            <a:avLst/>
          </a:prstGeom>
          <a:solidFill>
            <a:srgbClr val="2A9D8F"/>
          </a:solidFill>
          <a:ln w="12700">
            <a:solidFill>
              <a:srgbClr val="2A9D8F"/>
            </a:solidFill>
            <a:prstDash val="solid"/>
          </a:ln>
        </p:spPr>
        <p:txBody>
          <a:bodyPr/>
          <a:lstStyle/>
          <a:p>
            <a:endParaRPr lang="en-US"/>
          </a:p>
        </p:txBody>
      </p:sp>
      <p:sp>
        <p:nvSpPr>
          <p:cNvPr id="15" name="Text 13"/>
          <p:cNvSpPr/>
          <p:nvPr/>
        </p:nvSpPr>
        <p:spPr>
          <a:xfrm>
            <a:off x="4782312" y="2139696"/>
            <a:ext cx="429768" cy="411480"/>
          </a:xfrm>
          <a:prstGeom prst="rect">
            <a:avLst/>
          </a:prstGeom>
          <a:noFill/>
          <a:ln/>
        </p:spPr>
        <p:txBody>
          <a:bodyPr wrap="square" lIns="0" tIns="0" rIns="0" bIns="0" rtlCol="0" anchor="ctr"/>
          <a:lstStyle/>
          <a:p>
            <a:pPr marL="0" indent="0" algn="ctr">
              <a:buNone/>
            </a:pPr>
            <a:r>
              <a:rPr lang="en-US" sz="2200" b="1" dirty="0">
                <a:solidFill>
                  <a:srgbClr val="FFFFFF"/>
                </a:solidFill>
                <a:latin typeface="Aptos Display" pitchFamily="34" charset="0"/>
                <a:ea typeface="Aptos Display" pitchFamily="34" charset="-122"/>
                <a:cs typeface="Aptos Display" pitchFamily="34" charset="-120"/>
              </a:rPr>
              <a:t>3</a:t>
            </a:r>
            <a:endParaRPr lang="en-US" sz="2200" dirty="0"/>
          </a:p>
        </p:txBody>
      </p:sp>
      <p:sp>
        <p:nvSpPr>
          <p:cNvPr id="16" name="Text 14"/>
          <p:cNvSpPr/>
          <p:nvPr/>
        </p:nvSpPr>
        <p:spPr>
          <a:xfrm>
            <a:off x="4151376" y="3227832"/>
            <a:ext cx="1691640" cy="292608"/>
          </a:xfrm>
          <a:prstGeom prst="rect">
            <a:avLst/>
          </a:prstGeom>
          <a:noFill/>
          <a:ln/>
        </p:spPr>
        <p:txBody>
          <a:bodyPr wrap="square" lIns="0" tIns="0" rIns="0" bIns="0" rtlCol="0" anchor="ctr">
            <a:normAutofit/>
          </a:bodyPr>
          <a:lstStyle/>
          <a:p>
            <a:pPr marL="0" indent="0" algn="ctr">
              <a:buNone/>
            </a:pPr>
            <a:r>
              <a:rPr lang="en-US" sz="1400" b="1" dirty="0">
                <a:solidFill>
                  <a:srgbClr val="1F3A5F"/>
                </a:solidFill>
                <a:latin typeface="Aptos Display" pitchFamily="34" charset="0"/>
                <a:ea typeface="Aptos Display" pitchFamily="34" charset="-122"/>
                <a:cs typeface="Aptos Display" pitchFamily="34" charset="-120"/>
              </a:rPr>
              <a:t>Develop</a:t>
            </a:r>
            <a:endParaRPr lang="en-US" sz="1400" dirty="0"/>
          </a:p>
        </p:txBody>
      </p:sp>
      <p:sp>
        <p:nvSpPr>
          <p:cNvPr id="17" name="Text 15"/>
          <p:cNvSpPr/>
          <p:nvPr/>
        </p:nvSpPr>
        <p:spPr>
          <a:xfrm>
            <a:off x="4105656" y="3584448"/>
            <a:ext cx="1783080" cy="502920"/>
          </a:xfrm>
          <a:prstGeom prst="rect">
            <a:avLst/>
          </a:prstGeom>
          <a:noFill/>
          <a:ln/>
        </p:spPr>
        <p:txBody>
          <a:bodyPr wrap="square" lIns="127" tIns="127" rIns="127" bIns="127" rtlCol="0" anchor="ctr">
            <a:normAutofit/>
          </a:bodyPr>
          <a:lstStyle/>
          <a:p>
            <a:pPr marL="0" indent="0" algn="ctr">
              <a:buNone/>
            </a:pPr>
            <a:r>
              <a:rPr lang="en-US" sz="1050" dirty="0">
                <a:solidFill>
                  <a:srgbClr val="1F2937"/>
                </a:solidFill>
                <a:latin typeface="Aptos" pitchFamily="34" charset="0"/>
                <a:ea typeface="Aptos" pitchFamily="34" charset="-122"/>
                <a:cs typeface="Aptos" pitchFamily="34" charset="-120"/>
              </a:rPr>
              <a:t>Implement selected stories</a:t>
            </a:r>
            <a:endParaRPr lang="en-US" sz="1050" dirty="0"/>
          </a:p>
        </p:txBody>
      </p:sp>
      <p:sp>
        <p:nvSpPr>
          <p:cNvPr id="18" name="Shape 16"/>
          <p:cNvSpPr/>
          <p:nvPr/>
        </p:nvSpPr>
        <p:spPr>
          <a:xfrm>
            <a:off x="5733288" y="2221992"/>
            <a:ext cx="347472" cy="438912"/>
          </a:xfrm>
          <a:prstGeom prst="chevron">
            <a:avLst/>
          </a:prstGeom>
          <a:solidFill>
            <a:srgbClr val="B7C4D3"/>
          </a:solidFill>
          <a:ln w="12700">
            <a:solidFill>
              <a:srgbClr val="B7C4D3"/>
            </a:solidFill>
            <a:prstDash val="solid"/>
          </a:ln>
        </p:spPr>
        <p:txBody>
          <a:bodyPr/>
          <a:lstStyle/>
          <a:p>
            <a:endParaRPr lang="en-US"/>
          </a:p>
        </p:txBody>
      </p:sp>
      <p:sp>
        <p:nvSpPr>
          <p:cNvPr id="19" name="Shape 17"/>
          <p:cNvSpPr/>
          <p:nvPr/>
        </p:nvSpPr>
        <p:spPr>
          <a:xfrm>
            <a:off x="6227064" y="1828800"/>
            <a:ext cx="1234440" cy="1234440"/>
          </a:xfrm>
          <a:prstGeom prst="ellipse">
            <a:avLst/>
          </a:prstGeom>
          <a:solidFill>
            <a:srgbClr val="457B9D"/>
          </a:solidFill>
          <a:ln w="12700">
            <a:solidFill>
              <a:srgbClr val="457B9D"/>
            </a:solidFill>
            <a:prstDash val="solid"/>
          </a:ln>
        </p:spPr>
        <p:txBody>
          <a:bodyPr/>
          <a:lstStyle/>
          <a:p>
            <a:endParaRPr lang="en-US"/>
          </a:p>
        </p:txBody>
      </p:sp>
      <p:sp>
        <p:nvSpPr>
          <p:cNvPr id="20" name="Text 18"/>
          <p:cNvSpPr/>
          <p:nvPr/>
        </p:nvSpPr>
        <p:spPr>
          <a:xfrm>
            <a:off x="6629400" y="2139696"/>
            <a:ext cx="429768" cy="411480"/>
          </a:xfrm>
          <a:prstGeom prst="rect">
            <a:avLst/>
          </a:prstGeom>
          <a:noFill/>
          <a:ln/>
        </p:spPr>
        <p:txBody>
          <a:bodyPr wrap="square" lIns="0" tIns="0" rIns="0" bIns="0" rtlCol="0" anchor="ctr"/>
          <a:lstStyle/>
          <a:p>
            <a:pPr marL="0" indent="0" algn="ctr">
              <a:buNone/>
            </a:pPr>
            <a:r>
              <a:rPr lang="en-US" sz="2200" b="1" dirty="0">
                <a:solidFill>
                  <a:srgbClr val="FFFFFF"/>
                </a:solidFill>
                <a:latin typeface="Aptos Display" pitchFamily="34" charset="0"/>
                <a:ea typeface="Aptos Display" pitchFamily="34" charset="-122"/>
                <a:cs typeface="Aptos Display" pitchFamily="34" charset="-120"/>
              </a:rPr>
              <a:t>4</a:t>
            </a:r>
            <a:endParaRPr lang="en-US" sz="2200" dirty="0"/>
          </a:p>
        </p:txBody>
      </p:sp>
      <p:sp>
        <p:nvSpPr>
          <p:cNvPr id="21" name="Text 19"/>
          <p:cNvSpPr/>
          <p:nvPr/>
        </p:nvSpPr>
        <p:spPr>
          <a:xfrm>
            <a:off x="5998464" y="3227832"/>
            <a:ext cx="1691640" cy="292608"/>
          </a:xfrm>
          <a:prstGeom prst="rect">
            <a:avLst/>
          </a:prstGeom>
          <a:noFill/>
          <a:ln/>
        </p:spPr>
        <p:txBody>
          <a:bodyPr wrap="square" lIns="0" tIns="0" rIns="0" bIns="0" rtlCol="0" anchor="ctr">
            <a:normAutofit/>
          </a:bodyPr>
          <a:lstStyle/>
          <a:p>
            <a:pPr marL="0" indent="0" algn="ctr">
              <a:buNone/>
            </a:pPr>
            <a:r>
              <a:rPr lang="en-US" sz="1400" b="1" dirty="0">
                <a:solidFill>
                  <a:srgbClr val="1F3A5F"/>
                </a:solidFill>
                <a:latin typeface="Aptos Display" pitchFamily="34" charset="0"/>
                <a:ea typeface="Aptos Display" pitchFamily="34" charset="-122"/>
                <a:cs typeface="Aptos Display" pitchFamily="34" charset="-120"/>
              </a:rPr>
              <a:t>Test</a:t>
            </a:r>
            <a:endParaRPr lang="en-US" sz="1400" dirty="0"/>
          </a:p>
        </p:txBody>
      </p:sp>
      <p:sp>
        <p:nvSpPr>
          <p:cNvPr id="22" name="Text 20"/>
          <p:cNvSpPr/>
          <p:nvPr/>
        </p:nvSpPr>
        <p:spPr>
          <a:xfrm>
            <a:off x="5952744" y="3584448"/>
            <a:ext cx="1783080" cy="502920"/>
          </a:xfrm>
          <a:prstGeom prst="rect">
            <a:avLst/>
          </a:prstGeom>
          <a:noFill/>
          <a:ln/>
        </p:spPr>
        <p:txBody>
          <a:bodyPr wrap="square" lIns="127" tIns="127" rIns="127" bIns="127" rtlCol="0" anchor="ctr">
            <a:normAutofit/>
          </a:bodyPr>
          <a:lstStyle/>
          <a:p>
            <a:pPr marL="0" indent="0" algn="ctr">
              <a:buNone/>
            </a:pPr>
            <a:r>
              <a:rPr lang="en-US" sz="1050" dirty="0">
                <a:solidFill>
                  <a:srgbClr val="1F2937"/>
                </a:solidFill>
                <a:latin typeface="Aptos" pitchFamily="34" charset="0"/>
                <a:ea typeface="Aptos" pitchFamily="34" charset="-122"/>
                <a:cs typeface="Aptos" pitchFamily="34" charset="-120"/>
              </a:rPr>
              <a:t>Verify within the sprint</a:t>
            </a:r>
            <a:endParaRPr lang="en-US" sz="1050" dirty="0"/>
          </a:p>
        </p:txBody>
      </p:sp>
      <p:sp>
        <p:nvSpPr>
          <p:cNvPr id="23" name="Shape 21"/>
          <p:cNvSpPr/>
          <p:nvPr/>
        </p:nvSpPr>
        <p:spPr>
          <a:xfrm>
            <a:off x="7580376" y="2221992"/>
            <a:ext cx="347472" cy="438912"/>
          </a:xfrm>
          <a:prstGeom prst="chevron">
            <a:avLst/>
          </a:prstGeom>
          <a:solidFill>
            <a:srgbClr val="B7C4D3"/>
          </a:solidFill>
          <a:ln w="12700">
            <a:solidFill>
              <a:srgbClr val="B7C4D3"/>
            </a:solidFill>
            <a:prstDash val="solid"/>
          </a:ln>
        </p:spPr>
        <p:txBody>
          <a:bodyPr/>
          <a:lstStyle/>
          <a:p>
            <a:endParaRPr lang="en-US"/>
          </a:p>
        </p:txBody>
      </p:sp>
      <p:sp>
        <p:nvSpPr>
          <p:cNvPr id="24" name="Shape 22"/>
          <p:cNvSpPr/>
          <p:nvPr/>
        </p:nvSpPr>
        <p:spPr>
          <a:xfrm>
            <a:off x="8074152" y="1828800"/>
            <a:ext cx="1234440" cy="1234440"/>
          </a:xfrm>
          <a:prstGeom prst="ellipse">
            <a:avLst/>
          </a:prstGeom>
          <a:solidFill>
            <a:srgbClr val="E76F51"/>
          </a:solidFill>
          <a:ln w="12700">
            <a:solidFill>
              <a:srgbClr val="E76F51"/>
            </a:solidFill>
            <a:prstDash val="solid"/>
          </a:ln>
        </p:spPr>
        <p:txBody>
          <a:bodyPr/>
          <a:lstStyle/>
          <a:p>
            <a:endParaRPr lang="en-US"/>
          </a:p>
        </p:txBody>
      </p:sp>
      <p:sp>
        <p:nvSpPr>
          <p:cNvPr id="25" name="Text 23"/>
          <p:cNvSpPr/>
          <p:nvPr/>
        </p:nvSpPr>
        <p:spPr>
          <a:xfrm>
            <a:off x="8476488" y="2139696"/>
            <a:ext cx="429768" cy="411480"/>
          </a:xfrm>
          <a:prstGeom prst="rect">
            <a:avLst/>
          </a:prstGeom>
          <a:noFill/>
          <a:ln/>
        </p:spPr>
        <p:txBody>
          <a:bodyPr wrap="square" lIns="0" tIns="0" rIns="0" bIns="0" rtlCol="0" anchor="ctr"/>
          <a:lstStyle/>
          <a:p>
            <a:pPr marL="0" indent="0" algn="ctr">
              <a:buNone/>
            </a:pPr>
            <a:r>
              <a:rPr lang="en-US" sz="2200" b="1" dirty="0">
                <a:solidFill>
                  <a:srgbClr val="FFFFFF"/>
                </a:solidFill>
                <a:latin typeface="Aptos Display" pitchFamily="34" charset="0"/>
                <a:ea typeface="Aptos Display" pitchFamily="34" charset="-122"/>
                <a:cs typeface="Aptos Display" pitchFamily="34" charset="-120"/>
              </a:rPr>
              <a:t>5</a:t>
            </a:r>
            <a:endParaRPr lang="en-US" sz="2200" dirty="0"/>
          </a:p>
        </p:txBody>
      </p:sp>
      <p:sp>
        <p:nvSpPr>
          <p:cNvPr id="26" name="Text 24"/>
          <p:cNvSpPr/>
          <p:nvPr/>
        </p:nvSpPr>
        <p:spPr>
          <a:xfrm>
            <a:off x="7845552" y="3227832"/>
            <a:ext cx="1691640" cy="292608"/>
          </a:xfrm>
          <a:prstGeom prst="rect">
            <a:avLst/>
          </a:prstGeom>
          <a:noFill/>
          <a:ln/>
        </p:spPr>
        <p:txBody>
          <a:bodyPr wrap="square" lIns="0" tIns="0" rIns="0" bIns="0" rtlCol="0" anchor="ctr">
            <a:normAutofit/>
          </a:bodyPr>
          <a:lstStyle/>
          <a:p>
            <a:pPr marL="0" indent="0" algn="ctr">
              <a:buNone/>
            </a:pPr>
            <a:r>
              <a:rPr lang="en-US" sz="1400" b="1" dirty="0">
                <a:solidFill>
                  <a:srgbClr val="1F3A5F"/>
                </a:solidFill>
                <a:latin typeface="Aptos Display" pitchFamily="34" charset="0"/>
                <a:ea typeface="Aptos Display" pitchFamily="34" charset="-122"/>
                <a:cs typeface="Aptos Display" pitchFamily="34" charset="-120"/>
              </a:rPr>
              <a:t>Release / Review</a:t>
            </a:r>
            <a:endParaRPr lang="en-US" sz="1400" dirty="0"/>
          </a:p>
        </p:txBody>
      </p:sp>
      <p:sp>
        <p:nvSpPr>
          <p:cNvPr id="27" name="Text 25"/>
          <p:cNvSpPr/>
          <p:nvPr/>
        </p:nvSpPr>
        <p:spPr>
          <a:xfrm>
            <a:off x="7799832" y="3584448"/>
            <a:ext cx="1783080" cy="502920"/>
          </a:xfrm>
          <a:prstGeom prst="rect">
            <a:avLst/>
          </a:prstGeom>
          <a:noFill/>
          <a:ln/>
        </p:spPr>
        <p:txBody>
          <a:bodyPr wrap="square" lIns="127" tIns="127" rIns="127" bIns="127" rtlCol="0" anchor="ctr">
            <a:normAutofit/>
          </a:bodyPr>
          <a:lstStyle/>
          <a:p>
            <a:pPr marL="0" indent="0" algn="ctr">
              <a:buNone/>
            </a:pPr>
            <a:r>
              <a:rPr lang="en-US" sz="1050" dirty="0">
                <a:solidFill>
                  <a:srgbClr val="1F2937"/>
                </a:solidFill>
                <a:latin typeface="Aptos" pitchFamily="34" charset="0"/>
                <a:ea typeface="Aptos" pitchFamily="34" charset="-122"/>
                <a:cs typeface="Aptos" pitchFamily="34" charset="-120"/>
              </a:rPr>
              <a:t>Inspect working increment</a:t>
            </a:r>
            <a:endParaRPr lang="en-US" sz="1050" dirty="0"/>
          </a:p>
        </p:txBody>
      </p:sp>
      <p:sp>
        <p:nvSpPr>
          <p:cNvPr id="28" name="Shape 26"/>
          <p:cNvSpPr/>
          <p:nvPr/>
        </p:nvSpPr>
        <p:spPr>
          <a:xfrm>
            <a:off x="9427464" y="2221992"/>
            <a:ext cx="347472" cy="438912"/>
          </a:xfrm>
          <a:prstGeom prst="chevron">
            <a:avLst/>
          </a:prstGeom>
          <a:solidFill>
            <a:srgbClr val="B7C4D3"/>
          </a:solidFill>
          <a:ln w="12700">
            <a:solidFill>
              <a:srgbClr val="B7C4D3"/>
            </a:solidFill>
            <a:prstDash val="solid"/>
          </a:ln>
        </p:spPr>
        <p:txBody>
          <a:bodyPr/>
          <a:lstStyle/>
          <a:p>
            <a:endParaRPr lang="en-US"/>
          </a:p>
        </p:txBody>
      </p:sp>
      <p:sp>
        <p:nvSpPr>
          <p:cNvPr id="29" name="Shape 27"/>
          <p:cNvSpPr/>
          <p:nvPr/>
        </p:nvSpPr>
        <p:spPr>
          <a:xfrm>
            <a:off x="9921240" y="1828800"/>
            <a:ext cx="1234440" cy="1234440"/>
          </a:xfrm>
          <a:prstGeom prst="ellipse">
            <a:avLst/>
          </a:prstGeom>
          <a:solidFill>
            <a:srgbClr val="6D597A"/>
          </a:solidFill>
          <a:ln w="12700">
            <a:solidFill>
              <a:srgbClr val="6D597A"/>
            </a:solidFill>
            <a:prstDash val="solid"/>
          </a:ln>
        </p:spPr>
        <p:txBody>
          <a:bodyPr/>
          <a:lstStyle/>
          <a:p>
            <a:endParaRPr lang="en-US"/>
          </a:p>
        </p:txBody>
      </p:sp>
      <p:sp>
        <p:nvSpPr>
          <p:cNvPr id="30" name="Text 28"/>
          <p:cNvSpPr/>
          <p:nvPr/>
        </p:nvSpPr>
        <p:spPr>
          <a:xfrm>
            <a:off x="10323576" y="2139696"/>
            <a:ext cx="429768" cy="411480"/>
          </a:xfrm>
          <a:prstGeom prst="rect">
            <a:avLst/>
          </a:prstGeom>
          <a:noFill/>
          <a:ln/>
        </p:spPr>
        <p:txBody>
          <a:bodyPr wrap="square" lIns="0" tIns="0" rIns="0" bIns="0" rtlCol="0" anchor="ctr"/>
          <a:lstStyle/>
          <a:p>
            <a:pPr marL="0" indent="0" algn="ctr">
              <a:buNone/>
            </a:pPr>
            <a:r>
              <a:rPr lang="en-US" sz="2200" b="1" dirty="0">
                <a:solidFill>
                  <a:srgbClr val="FFFFFF"/>
                </a:solidFill>
                <a:latin typeface="Aptos Display" pitchFamily="34" charset="0"/>
                <a:ea typeface="Aptos Display" pitchFamily="34" charset="-122"/>
                <a:cs typeface="Aptos Display" pitchFamily="34" charset="-120"/>
              </a:rPr>
              <a:t>6</a:t>
            </a:r>
            <a:endParaRPr lang="en-US" sz="2200" dirty="0"/>
          </a:p>
        </p:txBody>
      </p:sp>
      <p:sp>
        <p:nvSpPr>
          <p:cNvPr id="31" name="Text 29"/>
          <p:cNvSpPr/>
          <p:nvPr/>
        </p:nvSpPr>
        <p:spPr>
          <a:xfrm>
            <a:off x="9692640" y="3227832"/>
            <a:ext cx="1691640" cy="292608"/>
          </a:xfrm>
          <a:prstGeom prst="rect">
            <a:avLst/>
          </a:prstGeom>
          <a:noFill/>
          <a:ln/>
        </p:spPr>
        <p:txBody>
          <a:bodyPr wrap="square" lIns="0" tIns="0" rIns="0" bIns="0" rtlCol="0" anchor="ctr">
            <a:normAutofit/>
          </a:bodyPr>
          <a:lstStyle/>
          <a:p>
            <a:pPr marL="0" indent="0" algn="ctr">
              <a:buNone/>
            </a:pPr>
            <a:r>
              <a:rPr lang="en-US" sz="1400" b="1" dirty="0">
                <a:solidFill>
                  <a:srgbClr val="1F3A5F"/>
                </a:solidFill>
                <a:latin typeface="Aptos Display" pitchFamily="34" charset="0"/>
                <a:ea typeface="Aptos Display" pitchFamily="34" charset="-122"/>
                <a:cs typeface="Aptos Display" pitchFamily="34" charset="-120"/>
              </a:rPr>
              <a:t>Maintain &amp; Learn</a:t>
            </a:r>
            <a:endParaRPr lang="en-US" sz="1400" dirty="0"/>
          </a:p>
        </p:txBody>
      </p:sp>
      <p:sp>
        <p:nvSpPr>
          <p:cNvPr id="32" name="Text 30"/>
          <p:cNvSpPr/>
          <p:nvPr/>
        </p:nvSpPr>
        <p:spPr>
          <a:xfrm>
            <a:off x="9646920" y="3584448"/>
            <a:ext cx="1783080" cy="502920"/>
          </a:xfrm>
          <a:prstGeom prst="rect">
            <a:avLst/>
          </a:prstGeom>
          <a:noFill/>
          <a:ln/>
        </p:spPr>
        <p:txBody>
          <a:bodyPr wrap="square" lIns="127" tIns="127" rIns="127" bIns="127" rtlCol="0" anchor="ctr">
            <a:normAutofit/>
          </a:bodyPr>
          <a:lstStyle/>
          <a:p>
            <a:pPr marL="0" indent="0" algn="ctr">
              <a:buNone/>
            </a:pPr>
            <a:r>
              <a:rPr lang="en-US" sz="1050" dirty="0">
                <a:solidFill>
                  <a:srgbClr val="1F2937"/>
                </a:solidFill>
                <a:latin typeface="Aptos" pitchFamily="34" charset="0"/>
                <a:ea typeface="Aptos" pitchFamily="34" charset="-122"/>
                <a:cs typeface="Aptos" pitchFamily="34" charset="-120"/>
              </a:rPr>
              <a:t>Feedback shapes next sprint</a:t>
            </a:r>
            <a:endParaRPr lang="en-US" sz="1050" dirty="0"/>
          </a:p>
        </p:txBody>
      </p:sp>
      <p:sp>
        <p:nvSpPr>
          <p:cNvPr id="33" name="Shape 31"/>
          <p:cNvSpPr/>
          <p:nvPr/>
        </p:nvSpPr>
        <p:spPr>
          <a:xfrm>
            <a:off x="914400" y="4434840"/>
            <a:ext cx="10195560" cy="1033272"/>
          </a:xfrm>
          <a:prstGeom prst="roundRect">
            <a:avLst/>
          </a:prstGeom>
          <a:solidFill>
            <a:srgbClr val="EAF1F8"/>
          </a:solidFill>
          <a:ln w="12700">
            <a:solidFill>
              <a:srgbClr val="C7D7E7"/>
            </a:solidFill>
            <a:prstDash val="solid"/>
          </a:ln>
        </p:spPr>
        <p:txBody>
          <a:bodyPr/>
          <a:lstStyle/>
          <a:p>
            <a:endParaRPr lang="en-US"/>
          </a:p>
        </p:txBody>
      </p:sp>
      <p:sp>
        <p:nvSpPr>
          <p:cNvPr id="34" name="Text 32"/>
          <p:cNvSpPr/>
          <p:nvPr/>
        </p:nvSpPr>
        <p:spPr>
          <a:xfrm>
            <a:off x="1143000" y="4782312"/>
            <a:ext cx="1691640" cy="256032"/>
          </a:xfrm>
          <a:prstGeom prst="rect">
            <a:avLst/>
          </a:prstGeom>
          <a:noFill/>
          <a:ln/>
        </p:spPr>
        <p:txBody>
          <a:bodyPr wrap="square" lIns="0" tIns="0" rIns="0" bIns="0" rtlCol="0" anchor="ctr"/>
          <a:lstStyle/>
          <a:p>
            <a:pPr marL="0" indent="0">
              <a:buNone/>
            </a:pPr>
            <a:r>
              <a:rPr lang="en-US" sz="1500" b="1" dirty="0">
                <a:solidFill>
                  <a:srgbClr val="1F3A5F"/>
                </a:solidFill>
                <a:latin typeface="Aptos Display" pitchFamily="34" charset="0"/>
                <a:ea typeface="Aptos Display" pitchFamily="34" charset="-122"/>
                <a:cs typeface="Aptos Display" pitchFamily="34" charset="-120"/>
              </a:rPr>
              <a:t>SNHU Travel example</a:t>
            </a:r>
            <a:endParaRPr lang="en-US" sz="1500" dirty="0"/>
          </a:p>
        </p:txBody>
      </p:sp>
      <p:sp>
        <p:nvSpPr>
          <p:cNvPr id="35" name="Text 33"/>
          <p:cNvSpPr/>
          <p:nvPr/>
        </p:nvSpPr>
        <p:spPr>
          <a:xfrm>
            <a:off x="2834640" y="4608576"/>
            <a:ext cx="7818120" cy="502920"/>
          </a:xfrm>
          <a:prstGeom prst="rect">
            <a:avLst/>
          </a:prstGeom>
          <a:noFill/>
          <a:ln/>
        </p:spPr>
        <p:txBody>
          <a:bodyPr wrap="square" lIns="127" tIns="127" rIns="127" bIns="127" rtlCol="0" anchor="ctr">
            <a:normAutofit/>
          </a:bodyPr>
          <a:lstStyle/>
          <a:p>
            <a:pPr marL="0" indent="0">
              <a:buNone/>
            </a:pPr>
            <a:r>
              <a:rPr lang="en-US" sz="1220" dirty="0">
                <a:solidFill>
                  <a:srgbClr val="1F2937"/>
                </a:solidFill>
                <a:latin typeface="Aptos" pitchFamily="34" charset="0"/>
                <a:ea typeface="Aptos" pitchFamily="34" charset="-122"/>
                <a:cs typeface="Aptos" pitchFamily="34" charset="-120"/>
              </a:rPr>
              <a:t>Focus group needs became user stories → The destination interface was designed and coded → Test cases verified the behavior → Product Owner feedback and changing business priorities shaped the next work.</a:t>
            </a:r>
            <a:endParaRPr lang="en-US" sz="1220" dirty="0"/>
          </a:p>
        </p:txBody>
      </p:sp>
      <p:sp>
        <p:nvSpPr>
          <p:cNvPr id="36" name="Text 34"/>
          <p:cNvSpPr/>
          <p:nvPr/>
        </p:nvSpPr>
        <p:spPr>
          <a:xfrm>
            <a:off x="640080" y="6245352"/>
            <a:ext cx="10881360" cy="182880"/>
          </a:xfrm>
          <a:prstGeom prst="rect">
            <a:avLst/>
          </a:prstGeom>
          <a:noFill/>
          <a:ln/>
        </p:spPr>
        <p:txBody>
          <a:bodyPr wrap="square" lIns="0" tIns="0" rIns="0" bIns="0" rtlCol="0" anchor="ctr">
            <a:normAutofit/>
          </a:bodyPr>
          <a:lstStyle/>
          <a:p>
            <a:pPr marL="0" indent="0">
              <a:buNone/>
            </a:pPr>
            <a:r>
              <a:rPr lang="en-US" sz="830" i="1" dirty="0">
                <a:solidFill>
                  <a:srgbClr val="64748B"/>
                </a:solidFill>
                <a:latin typeface="Aptos" pitchFamily="34" charset="0"/>
                <a:ea typeface="Aptos" pitchFamily="34" charset="-122"/>
                <a:cs typeface="Aptos" pitchFamily="34" charset="-120"/>
              </a:rPr>
              <a:t>Sources: Microsoft (2022, 2025); Tozzi (2024).</a:t>
            </a:r>
            <a:endParaRPr lang="en-US" sz="830" dirty="0"/>
          </a:p>
        </p:txBody>
      </p:sp>
      <p:sp>
        <p:nvSpPr>
          <p:cNvPr id="37" name="Slide Number Placeholder 0"/>
          <p:cNvSpPr>
            <a:spLocks noGrp="1"/>
          </p:cNvSpPr>
          <p:nvPr>
            <p:ph type="sldNum" sz="quarter" idx="4294967295"/>
          </p:nvPr>
        </p:nvSpPr>
        <p:spPr>
          <a:xfrm>
            <a:off x="11686032" y="6501384"/>
            <a:ext cx="22860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Aptos"/>
                <a:ea typeface="Aptos"/>
                <a:cs typeface="Aptos"/>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94360" y="438912"/>
            <a:ext cx="10881360" cy="411480"/>
          </a:xfrm>
          <a:prstGeom prst="rect">
            <a:avLst/>
          </a:prstGeom>
          <a:noFill/>
          <a:ln/>
        </p:spPr>
        <p:txBody>
          <a:bodyPr wrap="square" lIns="0" tIns="0" rIns="0" bIns="0" rtlCol="0" anchor="ctr"/>
          <a:lstStyle/>
          <a:p>
            <a:pPr marL="0" indent="0">
              <a:buNone/>
            </a:pPr>
            <a:r>
              <a:rPr lang="en-US" sz="2600" b="1" dirty="0">
                <a:solidFill>
                  <a:srgbClr val="1F3A5F"/>
                </a:solidFill>
                <a:latin typeface="Aptos Display" pitchFamily="34" charset="0"/>
                <a:ea typeface="Aptos Display" pitchFamily="34" charset="-122"/>
                <a:cs typeface="Aptos Display" pitchFamily="34" charset="-120"/>
              </a:rPr>
              <a:t>3. How Waterfall Would Have Changed the Project</a:t>
            </a:r>
            <a:endParaRPr lang="en-US" sz="2600" dirty="0"/>
          </a:p>
        </p:txBody>
      </p:sp>
      <p:sp>
        <p:nvSpPr>
          <p:cNvPr id="3" name="Text 1"/>
          <p:cNvSpPr/>
          <p:nvPr/>
        </p:nvSpPr>
        <p:spPr>
          <a:xfrm>
            <a:off x="612648" y="877824"/>
            <a:ext cx="10698480" cy="274320"/>
          </a:xfrm>
          <a:prstGeom prst="rect">
            <a:avLst/>
          </a:prstGeom>
          <a:noFill/>
          <a:ln/>
        </p:spPr>
        <p:txBody>
          <a:bodyPr wrap="square" lIns="0" tIns="0" rIns="0" bIns="0" rtlCol="0" anchor="ctr"/>
          <a:lstStyle/>
          <a:p>
            <a:pPr marL="0" indent="0">
              <a:buNone/>
            </a:pPr>
            <a:r>
              <a:rPr lang="en-US" sz="1250" dirty="0">
                <a:solidFill>
                  <a:srgbClr val="64748B"/>
                </a:solidFill>
                <a:latin typeface="Aptos" pitchFamily="34" charset="0"/>
                <a:ea typeface="Aptos" pitchFamily="34" charset="-122"/>
                <a:cs typeface="Aptos" pitchFamily="34" charset="-120"/>
              </a:rPr>
              <a:t>Waterfall moves through major phases sequentially, Agile expects inspection and adaptation throughout development.</a:t>
            </a:r>
            <a:endParaRPr lang="en-US" sz="1250" dirty="0"/>
          </a:p>
        </p:txBody>
      </p:sp>
      <p:sp>
        <p:nvSpPr>
          <p:cNvPr id="4" name="Text 2"/>
          <p:cNvSpPr/>
          <p:nvPr/>
        </p:nvSpPr>
        <p:spPr>
          <a:xfrm>
            <a:off x="731520" y="1298448"/>
            <a:ext cx="5029200" cy="320040"/>
          </a:xfrm>
          <a:prstGeom prst="rect">
            <a:avLst/>
          </a:prstGeom>
          <a:noFill/>
          <a:ln/>
        </p:spPr>
        <p:txBody>
          <a:bodyPr wrap="square" lIns="0" tIns="0" rIns="0" bIns="0" rtlCol="0" anchor="ctr"/>
          <a:lstStyle/>
          <a:p>
            <a:pPr marL="0" indent="0">
              <a:buNone/>
            </a:pPr>
            <a:r>
              <a:rPr lang="en-US" sz="1900" b="1" dirty="0">
                <a:solidFill>
                  <a:srgbClr val="2A9D8F"/>
                </a:solidFill>
                <a:latin typeface="Aptos Display" pitchFamily="34" charset="0"/>
                <a:ea typeface="Aptos Display" pitchFamily="34" charset="-122"/>
                <a:cs typeface="Aptos Display" pitchFamily="34" charset="-120"/>
              </a:rPr>
              <a:t>Agile used in SNHU Travel</a:t>
            </a:r>
            <a:endParaRPr lang="en-US" sz="1900" dirty="0"/>
          </a:p>
        </p:txBody>
      </p:sp>
      <p:sp>
        <p:nvSpPr>
          <p:cNvPr id="5" name="Text 3"/>
          <p:cNvSpPr/>
          <p:nvPr/>
        </p:nvSpPr>
        <p:spPr>
          <a:xfrm>
            <a:off x="6446520" y="1298448"/>
            <a:ext cx="4389120" cy="320040"/>
          </a:xfrm>
          <a:prstGeom prst="rect">
            <a:avLst/>
          </a:prstGeom>
          <a:noFill/>
          <a:ln/>
        </p:spPr>
        <p:txBody>
          <a:bodyPr wrap="square" lIns="0" tIns="0" rIns="0" bIns="0" rtlCol="0" anchor="ctr"/>
          <a:lstStyle/>
          <a:p>
            <a:pPr marL="0" indent="0">
              <a:buNone/>
            </a:pPr>
            <a:r>
              <a:rPr lang="en-US" sz="1900" b="1" dirty="0">
                <a:solidFill>
                  <a:srgbClr val="E76F51"/>
                </a:solidFill>
                <a:latin typeface="Aptos Display" pitchFamily="34" charset="0"/>
                <a:ea typeface="Aptos Display" pitchFamily="34" charset="-122"/>
                <a:cs typeface="Aptos Display" pitchFamily="34" charset="-120"/>
              </a:rPr>
              <a:t>Waterfall alternative</a:t>
            </a:r>
            <a:endParaRPr lang="en-US" sz="1900" dirty="0"/>
          </a:p>
        </p:txBody>
      </p:sp>
      <p:sp>
        <p:nvSpPr>
          <p:cNvPr id="6" name="Shape 4"/>
          <p:cNvSpPr/>
          <p:nvPr/>
        </p:nvSpPr>
        <p:spPr>
          <a:xfrm>
            <a:off x="6035040" y="1234440"/>
            <a:ext cx="0" cy="4480560"/>
          </a:xfrm>
          <a:prstGeom prst="line">
            <a:avLst/>
          </a:prstGeom>
          <a:noFill/>
          <a:ln w="15240">
            <a:solidFill>
              <a:srgbClr val="D9E1EA"/>
            </a:solidFill>
            <a:prstDash val="solid"/>
          </a:ln>
        </p:spPr>
        <p:txBody>
          <a:bodyPr/>
          <a:lstStyle/>
          <a:p>
            <a:endParaRPr lang="en-US"/>
          </a:p>
        </p:txBody>
      </p:sp>
      <p:sp>
        <p:nvSpPr>
          <p:cNvPr id="7" name="Text 5"/>
          <p:cNvSpPr/>
          <p:nvPr/>
        </p:nvSpPr>
        <p:spPr>
          <a:xfrm>
            <a:off x="868680" y="1874520"/>
            <a:ext cx="4709160" cy="2560320"/>
          </a:xfrm>
          <a:prstGeom prst="rect">
            <a:avLst/>
          </a:prstGeom>
          <a:noFill/>
          <a:ln/>
        </p:spPr>
        <p:txBody>
          <a:bodyPr wrap="square" lIns="254" tIns="254" rIns="254" bIns="254" rtlCol="0" anchor="t">
            <a:normAutofit/>
          </a:bodyPr>
          <a:lstStyle/>
          <a:p>
            <a:pPr marL="177800" indent="-177800">
              <a:buSzPct val="100000"/>
              <a:buChar char="•"/>
            </a:pPr>
            <a:r>
              <a:rPr lang="en-US" sz="1400" dirty="0">
                <a:solidFill>
                  <a:srgbClr val="1F2937"/>
                </a:solidFill>
                <a:latin typeface="Aptos" pitchFamily="34" charset="0"/>
                <a:ea typeface="Aptos" pitchFamily="34" charset="-122"/>
                <a:cs typeface="Aptos" pitchFamily="34" charset="-120"/>
              </a:rPr>
              <a:t>Requirements were captured as user stories and refined as the team learned more.</a:t>
            </a:r>
            <a:endParaRPr lang="en-US" sz="1400" dirty="0"/>
          </a:p>
          <a:p>
            <a:pPr marL="177800" indent="-177800">
              <a:buSzPct val="100000"/>
              <a:buChar char="•"/>
            </a:pPr>
            <a:r>
              <a:rPr lang="en-US" sz="1400" dirty="0">
                <a:solidFill>
                  <a:srgbClr val="1F2937"/>
                </a:solidFill>
                <a:latin typeface="Aptos" pitchFamily="34" charset="0"/>
                <a:ea typeface="Aptos" pitchFamily="34" charset="-122"/>
                <a:cs typeface="Aptos" pitchFamily="34" charset="-120"/>
              </a:rPr>
              <a:t>Testing and clarification happened during the development cycle.</a:t>
            </a:r>
            <a:endParaRPr lang="en-US" sz="1400" dirty="0"/>
          </a:p>
          <a:p>
            <a:pPr marL="177800" indent="-177800">
              <a:buSzPct val="100000"/>
              <a:buChar char="•"/>
            </a:pPr>
            <a:r>
              <a:rPr lang="en-US" sz="1400" dirty="0">
                <a:solidFill>
                  <a:srgbClr val="1F2937"/>
                </a:solidFill>
                <a:latin typeface="Aptos" pitchFamily="34" charset="0"/>
                <a:ea typeface="Aptos" pitchFamily="34" charset="-122"/>
                <a:cs typeface="Aptos" pitchFamily="34" charset="-120"/>
              </a:rPr>
              <a:t>The Product Owner could reprioritize backlog items when business needs changed.</a:t>
            </a:r>
            <a:endParaRPr lang="en-US" sz="1400" dirty="0"/>
          </a:p>
          <a:p>
            <a:pPr marL="177800" indent="-177800">
              <a:buSzPct val="100000"/>
              <a:buChar char="•"/>
            </a:pPr>
            <a:r>
              <a:rPr lang="en-US" sz="1400" dirty="0">
                <a:solidFill>
                  <a:srgbClr val="1F2937"/>
                </a:solidFill>
                <a:latin typeface="Aptos" pitchFamily="34" charset="0"/>
                <a:ea typeface="Aptos" pitchFamily="34" charset="-122"/>
                <a:cs typeface="Aptos" pitchFamily="34" charset="-120"/>
              </a:rPr>
              <a:t>Working features could be reviewed before the entire product was complete.</a:t>
            </a:r>
            <a:endParaRPr lang="en-US" sz="1400" dirty="0"/>
          </a:p>
        </p:txBody>
      </p:sp>
      <p:sp>
        <p:nvSpPr>
          <p:cNvPr id="8" name="Text 6"/>
          <p:cNvSpPr/>
          <p:nvPr/>
        </p:nvSpPr>
        <p:spPr>
          <a:xfrm>
            <a:off x="6537960" y="1874520"/>
            <a:ext cx="4709160" cy="2560320"/>
          </a:xfrm>
          <a:prstGeom prst="rect">
            <a:avLst/>
          </a:prstGeom>
          <a:noFill/>
          <a:ln/>
        </p:spPr>
        <p:txBody>
          <a:bodyPr wrap="square" lIns="254" tIns="254" rIns="254" bIns="254" rtlCol="0" anchor="t">
            <a:normAutofit/>
          </a:bodyPr>
          <a:lstStyle/>
          <a:p>
            <a:pPr marL="177800" indent="-177800">
              <a:buSzPct val="100000"/>
              <a:buChar char="•"/>
            </a:pPr>
            <a:r>
              <a:rPr lang="en-US" sz="1400" dirty="0">
                <a:solidFill>
                  <a:srgbClr val="1F2937"/>
                </a:solidFill>
                <a:latin typeface="Aptos" pitchFamily="34" charset="0"/>
                <a:ea typeface="Aptos" pitchFamily="34" charset="-122"/>
                <a:cs typeface="Aptos" pitchFamily="34" charset="-120"/>
              </a:rPr>
              <a:t>Requirements would be documented and approved before later phases begin.</a:t>
            </a:r>
            <a:endParaRPr lang="en-US" sz="1400" dirty="0"/>
          </a:p>
          <a:p>
            <a:pPr marL="177800" indent="-177800">
              <a:buSzPct val="100000"/>
              <a:buChar char="•"/>
            </a:pPr>
            <a:r>
              <a:rPr lang="en-US" sz="1400" dirty="0">
                <a:solidFill>
                  <a:srgbClr val="1F2937"/>
                </a:solidFill>
                <a:latin typeface="Aptos" pitchFamily="34" charset="0"/>
                <a:ea typeface="Aptos" pitchFamily="34" charset="-122"/>
                <a:cs typeface="Aptos" pitchFamily="34" charset="-120"/>
              </a:rPr>
              <a:t>Major testing would occur after implementation, increasing the cost of late discoveries.</a:t>
            </a:r>
            <a:endParaRPr lang="en-US" sz="1400" dirty="0"/>
          </a:p>
          <a:p>
            <a:pPr marL="177800" indent="-177800">
              <a:buSzPct val="100000"/>
              <a:buChar char="•"/>
            </a:pPr>
            <a:r>
              <a:rPr lang="en-US" sz="1400" dirty="0">
                <a:solidFill>
                  <a:srgbClr val="1F2937"/>
                </a:solidFill>
                <a:latin typeface="Aptos" pitchFamily="34" charset="0"/>
                <a:ea typeface="Aptos" pitchFamily="34" charset="-122"/>
                <a:cs typeface="Aptos" pitchFamily="34" charset="-120"/>
              </a:rPr>
              <a:t>A mid project priority change would require formal rework across completed phases.</a:t>
            </a:r>
            <a:endParaRPr lang="en-US" sz="1400" dirty="0"/>
          </a:p>
          <a:p>
            <a:pPr marL="177800" indent="-177800">
              <a:buSzPct val="100000"/>
              <a:buChar char="•"/>
            </a:pPr>
            <a:r>
              <a:rPr lang="en-US" sz="1400" dirty="0">
                <a:solidFill>
                  <a:srgbClr val="1F2937"/>
                </a:solidFill>
                <a:latin typeface="Aptos" pitchFamily="34" charset="0"/>
                <a:ea typeface="Aptos" pitchFamily="34" charset="-122"/>
                <a:cs typeface="Aptos" pitchFamily="34" charset="-120"/>
              </a:rPr>
              <a:t>Stakeholders would see less working software until later in the lifecycle.</a:t>
            </a:r>
            <a:endParaRPr lang="en-US" sz="1400" dirty="0"/>
          </a:p>
        </p:txBody>
      </p:sp>
      <p:sp>
        <p:nvSpPr>
          <p:cNvPr id="9" name="Shape 7"/>
          <p:cNvSpPr/>
          <p:nvPr/>
        </p:nvSpPr>
        <p:spPr>
          <a:xfrm>
            <a:off x="960120" y="4736592"/>
            <a:ext cx="10195560" cy="960120"/>
          </a:xfrm>
          <a:prstGeom prst="roundRect">
            <a:avLst/>
          </a:prstGeom>
          <a:solidFill>
            <a:srgbClr val="FCEDE9"/>
          </a:solidFill>
          <a:ln w="12700">
            <a:solidFill>
              <a:srgbClr val="F3C1B5"/>
            </a:solidFill>
            <a:prstDash val="solid"/>
          </a:ln>
        </p:spPr>
        <p:txBody>
          <a:bodyPr/>
          <a:lstStyle/>
          <a:p>
            <a:endParaRPr lang="en-US"/>
          </a:p>
        </p:txBody>
      </p:sp>
      <p:sp>
        <p:nvSpPr>
          <p:cNvPr id="10" name="Text 8"/>
          <p:cNvSpPr/>
          <p:nvPr/>
        </p:nvSpPr>
        <p:spPr>
          <a:xfrm>
            <a:off x="1234440" y="4937760"/>
            <a:ext cx="9646920" cy="475488"/>
          </a:xfrm>
          <a:prstGeom prst="rect">
            <a:avLst/>
          </a:prstGeom>
          <a:noFill/>
          <a:ln/>
        </p:spPr>
        <p:txBody>
          <a:bodyPr wrap="square" lIns="127" tIns="127" rIns="127" bIns="127" rtlCol="0" anchor="ctr">
            <a:normAutofit/>
          </a:bodyPr>
          <a:lstStyle/>
          <a:p>
            <a:pPr marL="0" indent="0">
              <a:buNone/>
            </a:pPr>
            <a:r>
              <a:rPr lang="en-US" sz="1230" dirty="0">
                <a:solidFill>
                  <a:srgbClr val="1F2937"/>
                </a:solidFill>
                <a:latin typeface="Aptos" pitchFamily="34" charset="0"/>
                <a:ea typeface="Aptos" pitchFamily="34" charset="-122"/>
                <a:cs typeface="Aptos" pitchFamily="34" charset="-120"/>
              </a:rPr>
              <a:t>Course example: The project changed direction toward detox and wellness travel. Scrum allowed the Product Owner to reorder priorities and preserve useful work. In Waterfall, that change would have forced revisions to approved requirements, design, testing plans, and schedule.</a:t>
            </a:r>
            <a:endParaRPr lang="en-US" sz="1230" dirty="0"/>
          </a:p>
        </p:txBody>
      </p:sp>
      <p:sp>
        <p:nvSpPr>
          <p:cNvPr id="11" name="Text 9"/>
          <p:cNvSpPr/>
          <p:nvPr/>
        </p:nvSpPr>
        <p:spPr>
          <a:xfrm>
            <a:off x="640080" y="6245352"/>
            <a:ext cx="10881360" cy="182880"/>
          </a:xfrm>
          <a:prstGeom prst="rect">
            <a:avLst/>
          </a:prstGeom>
          <a:noFill/>
          <a:ln/>
        </p:spPr>
        <p:txBody>
          <a:bodyPr wrap="square" lIns="0" tIns="0" rIns="0" bIns="0" rtlCol="0" anchor="ctr">
            <a:normAutofit/>
          </a:bodyPr>
          <a:lstStyle/>
          <a:p>
            <a:pPr marL="0" indent="0">
              <a:buNone/>
            </a:pPr>
            <a:r>
              <a:rPr lang="en-US" sz="830" i="1" dirty="0">
                <a:solidFill>
                  <a:srgbClr val="64748B"/>
                </a:solidFill>
                <a:latin typeface="Aptos" pitchFamily="34" charset="0"/>
                <a:ea typeface="Aptos" pitchFamily="34" charset="-122"/>
                <a:cs typeface="Aptos" pitchFamily="34" charset="-120"/>
              </a:rPr>
              <a:t>Sources: Kirvan, Lutkevich, &amp; Lewis (2024); Tozzi (2024).</a:t>
            </a:r>
            <a:endParaRPr lang="en-US" sz="830" dirty="0"/>
          </a:p>
        </p:txBody>
      </p:sp>
      <p:sp>
        <p:nvSpPr>
          <p:cNvPr id="25" name="Slide Number Placeholder 0"/>
          <p:cNvSpPr>
            <a:spLocks noGrp="1"/>
          </p:cNvSpPr>
          <p:nvPr>
            <p:ph type="sldNum" sz="quarter" idx="4294967295"/>
          </p:nvPr>
        </p:nvSpPr>
        <p:spPr>
          <a:xfrm>
            <a:off x="11686032" y="6501384"/>
            <a:ext cx="22860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Aptos"/>
                <a:ea typeface="Aptos"/>
                <a:cs typeface="Aptos"/>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94360" y="438912"/>
            <a:ext cx="10881360" cy="411480"/>
          </a:xfrm>
          <a:prstGeom prst="rect">
            <a:avLst/>
          </a:prstGeom>
          <a:noFill/>
          <a:ln/>
        </p:spPr>
        <p:txBody>
          <a:bodyPr wrap="square" lIns="0" tIns="0" rIns="0" bIns="0" rtlCol="0" anchor="ctr"/>
          <a:lstStyle/>
          <a:p>
            <a:pPr marL="0" indent="0">
              <a:buNone/>
            </a:pPr>
            <a:r>
              <a:rPr lang="en-US" sz="2600" b="1" dirty="0">
                <a:solidFill>
                  <a:srgbClr val="1F3A5F"/>
                </a:solidFill>
                <a:latin typeface="Aptos Display" pitchFamily="34" charset="0"/>
                <a:ea typeface="Aptos Display" pitchFamily="34" charset="-122"/>
                <a:cs typeface="Aptos Display" pitchFamily="34" charset="-120"/>
              </a:rPr>
              <a:t>4. Choosing Waterfall or Agile</a:t>
            </a:r>
            <a:endParaRPr lang="en-US" sz="2600" dirty="0"/>
          </a:p>
        </p:txBody>
      </p:sp>
      <p:sp>
        <p:nvSpPr>
          <p:cNvPr id="3" name="Text 1"/>
          <p:cNvSpPr/>
          <p:nvPr/>
        </p:nvSpPr>
        <p:spPr>
          <a:xfrm>
            <a:off x="612648" y="877824"/>
            <a:ext cx="10698480" cy="274320"/>
          </a:xfrm>
          <a:prstGeom prst="rect">
            <a:avLst/>
          </a:prstGeom>
          <a:noFill/>
          <a:ln/>
        </p:spPr>
        <p:txBody>
          <a:bodyPr wrap="square" lIns="0" tIns="0" rIns="0" bIns="0" rtlCol="0" anchor="ctr"/>
          <a:lstStyle/>
          <a:p>
            <a:pPr marL="0" indent="0">
              <a:buNone/>
            </a:pPr>
            <a:r>
              <a:rPr lang="en-US" sz="1250" dirty="0">
                <a:solidFill>
                  <a:srgbClr val="64748B"/>
                </a:solidFill>
                <a:latin typeface="Aptos" pitchFamily="34" charset="0"/>
                <a:ea typeface="Aptos" pitchFamily="34" charset="-122"/>
                <a:cs typeface="Aptos" pitchFamily="34" charset="-120"/>
              </a:rPr>
              <a:t>The best methodology depends on the project.</a:t>
            </a:r>
            <a:endParaRPr lang="en-US" sz="1250" dirty="0"/>
          </a:p>
        </p:txBody>
      </p:sp>
      <p:sp>
        <p:nvSpPr>
          <p:cNvPr id="4" name="Shape 2"/>
          <p:cNvSpPr/>
          <p:nvPr/>
        </p:nvSpPr>
        <p:spPr>
          <a:xfrm>
            <a:off x="594360" y="1371600"/>
            <a:ext cx="10972800" cy="475488"/>
          </a:xfrm>
          <a:prstGeom prst="roundRect">
            <a:avLst/>
          </a:prstGeom>
          <a:solidFill>
            <a:srgbClr val="1F3A5F"/>
          </a:solidFill>
          <a:ln w="12700">
            <a:solidFill>
              <a:srgbClr val="1F3A5F"/>
            </a:solidFill>
            <a:prstDash val="solid"/>
          </a:ln>
        </p:spPr>
        <p:txBody>
          <a:bodyPr/>
          <a:lstStyle/>
          <a:p>
            <a:endParaRPr lang="en-US"/>
          </a:p>
        </p:txBody>
      </p:sp>
      <p:sp>
        <p:nvSpPr>
          <p:cNvPr id="5" name="Text 3"/>
          <p:cNvSpPr/>
          <p:nvPr/>
        </p:nvSpPr>
        <p:spPr>
          <a:xfrm>
            <a:off x="822960" y="1490472"/>
            <a:ext cx="2057400" cy="201168"/>
          </a:xfrm>
          <a:prstGeom prst="rect">
            <a:avLst/>
          </a:prstGeom>
          <a:noFill/>
          <a:ln/>
        </p:spPr>
        <p:txBody>
          <a:bodyPr wrap="square" lIns="0" tIns="0" rIns="0" bIns="0" rtlCol="0" anchor="ctr"/>
          <a:lstStyle/>
          <a:p>
            <a:pPr marL="0" indent="0">
              <a:buNone/>
            </a:pPr>
            <a:r>
              <a:rPr lang="en-US" sz="1250" b="1" dirty="0">
                <a:solidFill>
                  <a:srgbClr val="FFFFFF"/>
                </a:solidFill>
                <a:latin typeface="Aptos" pitchFamily="34" charset="0"/>
                <a:ea typeface="Aptos" pitchFamily="34" charset="-122"/>
                <a:cs typeface="Aptos" pitchFamily="34" charset="-120"/>
              </a:rPr>
              <a:t>Decision Factor</a:t>
            </a:r>
            <a:endParaRPr lang="en-US" sz="1250" dirty="0"/>
          </a:p>
        </p:txBody>
      </p:sp>
      <p:sp>
        <p:nvSpPr>
          <p:cNvPr id="6" name="Text 4"/>
          <p:cNvSpPr/>
          <p:nvPr/>
        </p:nvSpPr>
        <p:spPr>
          <a:xfrm>
            <a:off x="3063240" y="1490472"/>
            <a:ext cx="3474720" cy="201168"/>
          </a:xfrm>
          <a:prstGeom prst="rect">
            <a:avLst/>
          </a:prstGeom>
          <a:noFill/>
          <a:ln/>
        </p:spPr>
        <p:txBody>
          <a:bodyPr wrap="square" lIns="0" tIns="0" rIns="0" bIns="0" rtlCol="0" anchor="ctr"/>
          <a:lstStyle/>
          <a:p>
            <a:pPr marL="0" indent="0">
              <a:buNone/>
            </a:pPr>
            <a:r>
              <a:rPr lang="en-US" sz="1250" b="1" dirty="0">
                <a:solidFill>
                  <a:srgbClr val="FFFFFF"/>
                </a:solidFill>
                <a:latin typeface="Aptos" pitchFamily="34" charset="0"/>
                <a:ea typeface="Aptos" pitchFamily="34" charset="-122"/>
                <a:cs typeface="Aptos" pitchFamily="34" charset="-120"/>
              </a:rPr>
              <a:t>Waterfall is stronger when…</a:t>
            </a:r>
            <a:endParaRPr lang="en-US" sz="1250" dirty="0"/>
          </a:p>
        </p:txBody>
      </p:sp>
      <p:sp>
        <p:nvSpPr>
          <p:cNvPr id="7" name="Text 5"/>
          <p:cNvSpPr/>
          <p:nvPr/>
        </p:nvSpPr>
        <p:spPr>
          <a:xfrm>
            <a:off x="6858000" y="1490472"/>
            <a:ext cx="3931920" cy="201168"/>
          </a:xfrm>
          <a:prstGeom prst="rect">
            <a:avLst/>
          </a:prstGeom>
          <a:noFill/>
          <a:ln/>
        </p:spPr>
        <p:txBody>
          <a:bodyPr wrap="square" lIns="0" tIns="0" rIns="0" bIns="0" rtlCol="0" anchor="ctr"/>
          <a:lstStyle/>
          <a:p>
            <a:pPr marL="0" indent="0">
              <a:buNone/>
            </a:pPr>
            <a:r>
              <a:rPr lang="en-US" sz="1250" b="1" dirty="0">
                <a:solidFill>
                  <a:srgbClr val="FFFFFF"/>
                </a:solidFill>
                <a:latin typeface="Aptos" pitchFamily="34" charset="0"/>
                <a:ea typeface="Aptos" pitchFamily="34" charset="-122"/>
                <a:cs typeface="Aptos" pitchFamily="34" charset="-120"/>
              </a:rPr>
              <a:t>Agile is stronger when…</a:t>
            </a:r>
            <a:endParaRPr lang="en-US" sz="1250" dirty="0"/>
          </a:p>
        </p:txBody>
      </p:sp>
      <p:sp>
        <p:nvSpPr>
          <p:cNvPr id="8" name="Shape 6"/>
          <p:cNvSpPr/>
          <p:nvPr/>
        </p:nvSpPr>
        <p:spPr>
          <a:xfrm>
            <a:off x="594360" y="1920240"/>
            <a:ext cx="10972800" cy="658368"/>
          </a:xfrm>
          <a:prstGeom prst="rect">
            <a:avLst/>
          </a:prstGeom>
          <a:solidFill>
            <a:srgbClr val="FFFFFF"/>
          </a:solidFill>
          <a:ln w="8890">
            <a:solidFill>
              <a:srgbClr val="D9E1EA"/>
            </a:solidFill>
            <a:prstDash val="solid"/>
          </a:ln>
        </p:spPr>
        <p:txBody>
          <a:bodyPr/>
          <a:lstStyle/>
          <a:p>
            <a:endParaRPr lang="en-US"/>
          </a:p>
        </p:txBody>
      </p:sp>
      <p:sp>
        <p:nvSpPr>
          <p:cNvPr id="9" name="Text 7"/>
          <p:cNvSpPr/>
          <p:nvPr/>
        </p:nvSpPr>
        <p:spPr>
          <a:xfrm>
            <a:off x="822960" y="2075688"/>
            <a:ext cx="1920240" cy="228600"/>
          </a:xfrm>
          <a:prstGeom prst="rect">
            <a:avLst/>
          </a:prstGeom>
          <a:noFill/>
          <a:ln/>
        </p:spPr>
        <p:txBody>
          <a:bodyPr wrap="square" lIns="0" tIns="0" rIns="0" bIns="0" rtlCol="0" anchor="ctr"/>
          <a:lstStyle/>
          <a:p>
            <a:pPr marL="0" indent="0">
              <a:buNone/>
            </a:pPr>
            <a:r>
              <a:rPr lang="en-US" sz="1150" b="1" dirty="0">
                <a:solidFill>
                  <a:srgbClr val="1F3A5F"/>
                </a:solidFill>
                <a:latin typeface="Aptos" pitchFamily="34" charset="0"/>
                <a:ea typeface="Aptos" pitchFamily="34" charset="-122"/>
                <a:cs typeface="Aptos" pitchFamily="34" charset="-120"/>
              </a:rPr>
              <a:t>Requirements</a:t>
            </a:r>
            <a:endParaRPr lang="en-US" sz="1150" dirty="0"/>
          </a:p>
        </p:txBody>
      </p:sp>
      <p:sp>
        <p:nvSpPr>
          <p:cNvPr id="10" name="Text 8"/>
          <p:cNvSpPr/>
          <p:nvPr/>
        </p:nvSpPr>
        <p:spPr>
          <a:xfrm>
            <a:off x="3063240" y="2029968"/>
            <a:ext cx="3337560" cy="320040"/>
          </a:xfrm>
          <a:prstGeom prst="rect">
            <a:avLst/>
          </a:prstGeom>
          <a:noFill/>
          <a:ln/>
        </p:spPr>
        <p:txBody>
          <a:bodyPr wrap="square" lIns="0" tIns="0" rIns="0" bIns="0" rtlCol="0" anchor="ctr">
            <a:normAutofit/>
          </a:bodyPr>
          <a:lstStyle/>
          <a:p>
            <a:pPr marL="0" indent="0">
              <a:buNone/>
            </a:pPr>
            <a:r>
              <a:rPr lang="en-US" sz="1090" dirty="0">
                <a:solidFill>
                  <a:srgbClr val="1F2937"/>
                </a:solidFill>
                <a:latin typeface="Aptos" pitchFamily="34" charset="0"/>
                <a:ea typeface="Aptos" pitchFamily="34" charset="-122"/>
                <a:cs typeface="Aptos" pitchFamily="34" charset="-120"/>
              </a:rPr>
              <a:t>Stable and unlikely to change</a:t>
            </a:r>
            <a:endParaRPr lang="en-US" sz="1090" dirty="0"/>
          </a:p>
        </p:txBody>
      </p:sp>
      <p:sp>
        <p:nvSpPr>
          <p:cNvPr id="11" name="Text 9"/>
          <p:cNvSpPr/>
          <p:nvPr/>
        </p:nvSpPr>
        <p:spPr>
          <a:xfrm>
            <a:off x="6858000" y="2029968"/>
            <a:ext cx="4069080" cy="320040"/>
          </a:xfrm>
          <a:prstGeom prst="rect">
            <a:avLst/>
          </a:prstGeom>
          <a:noFill/>
          <a:ln/>
        </p:spPr>
        <p:txBody>
          <a:bodyPr wrap="square" lIns="0" tIns="0" rIns="0" bIns="0" rtlCol="0" anchor="ctr">
            <a:normAutofit/>
          </a:bodyPr>
          <a:lstStyle/>
          <a:p>
            <a:pPr marL="0" indent="0">
              <a:buNone/>
            </a:pPr>
            <a:r>
              <a:rPr lang="en-US" sz="1090" dirty="0">
                <a:solidFill>
                  <a:srgbClr val="1F2937"/>
                </a:solidFill>
                <a:latin typeface="Aptos" pitchFamily="34" charset="0"/>
                <a:ea typeface="Aptos" pitchFamily="34" charset="-122"/>
                <a:cs typeface="Aptos" pitchFamily="34" charset="-120"/>
              </a:rPr>
              <a:t>Evolving or discovered through feedback</a:t>
            </a:r>
            <a:endParaRPr lang="en-US" sz="1090" dirty="0"/>
          </a:p>
        </p:txBody>
      </p:sp>
      <p:sp>
        <p:nvSpPr>
          <p:cNvPr id="12" name="Shape 10"/>
          <p:cNvSpPr/>
          <p:nvPr/>
        </p:nvSpPr>
        <p:spPr>
          <a:xfrm>
            <a:off x="594360" y="2578608"/>
            <a:ext cx="10972800" cy="658368"/>
          </a:xfrm>
          <a:prstGeom prst="rect">
            <a:avLst/>
          </a:prstGeom>
          <a:solidFill>
            <a:srgbClr val="F2F5F8"/>
          </a:solidFill>
          <a:ln w="8890">
            <a:solidFill>
              <a:srgbClr val="D9E1EA"/>
            </a:solidFill>
            <a:prstDash val="solid"/>
          </a:ln>
        </p:spPr>
        <p:txBody>
          <a:bodyPr/>
          <a:lstStyle/>
          <a:p>
            <a:endParaRPr lang="en-US"/>
          </a:p>
        </p:txBody>
      </p:sp>
      <p:sp>
        <p:nvSpPr>
          <p:cNvPr id="13" name="Text 11"/>
          <p:cNvSpPr/>
          <p:nvPr/>
        </p:nvSpPr>
        <p:spPr>
          <a:xfrm>
            <a:off x="822960" y="2734056"/>
            <a:ext cx="1920240" cy="228600"/>
          </a:xfrm>
          <a:prstGeom prst="rect">
            <a:avLst/>
          </a:prstGeom>
          <a:noFill/>
          <a:ln/>
        </p:spPr>
        <p:txBody>
          <a:bodyPr wrap="square" lIns="0" tIns="0" rIns="0" bIns="0" rtlCol="0" anchor="ctr"/>
          <a:lstStyle/>
          <a:p>
            <a:pPr marL="0" indent="0">
              <a:buNone/>
            </a:pPr>
            <a:r>
              <a:rPr lang="en-US" sz="1150" b="1" dirty="0">
                <a:solidFill>
                  <a:srgbClr val="1F3A5F"/>
                </a:solidFill>
                <a:latin typeface="Aptos" pitchFamily="34" charset="0"/>
                <a:ea typeface="Aptos" pitchFamily="34" charset="-122"/>
                <a:cs typeface="Aptos" pitchFamily="34" charset="-120"/>
              </a:rPr>
              <a:t>Stakeholder feedback</a:t>
            </a:r>
            <a:endParaRPr lang="en-US" sz="1150" dirty="0"/>
          </a:p>
        </p:txBody>
      </p:sp>
      <p:sp>
        <p:nvSpPr>
          <p:cNvPr id="14" name="Text 12"/>
          <p:cNvSpPr/>
          <p:nvPr/>
        </p:nvSpPr>
        <p:spPr>
          <a:xfrm>
            <a:off x="3063240" y="2688336"/>
            <a:ext cx="3337560" cy="320040"/>
          </a:xfrm>
          <a:prstGeom prst="rect">
            <a:avLst/>
          </a:prstGeom>
          <a:noFill/>
          <a:ln/>
        </p:spPr>
        <p:txBody>
          <a:bodyPr wrap="square" lIns="0" tIns="0" rIns="0" bIns="0" rtlCol="0" anchor="ctr">
            <a:normAutofit/>
          </a:bodyPr>
          <a:lstStyle/>
          <a:p>
            <a:pPr marL="0" indent="0">
              <a:buNone/>
            </a:pPr>
            <a:r>
              <a:rPr lang="en-US" sz="1090" dirty="0">
                <a:solidFill>
                  <a:srgbClr val="1F2937"/>
                </a:solidFill>
                <a:latin typeface="Aptos" pitchFamily="34" charset="0"/>
                <a:ea typeface="Aptos" pitchFamily="34" charset="-122"/>
                <a:cs typeface="Aptos" pitchFamily="34" charset="-120"/>
              </a:rPr>
              <a:t>Needed mainly at milestones</a:t>
            </a:r>
            <a:endParaRPr lang="en-US" sz="1090" dirty="0"/>
          </a:p>
        </p:txBody>
      </p:sp>
      <p:sp>
        <p:nvSpPr>
          <p:cNvPr id="15" name="Text 13"/>
          <p:cNvSpPr/>
          <p:nvPr/>
        </p:nvSpPr>
        <p:spPr>
          <a:xfrm>
            <a:off x="6858000" y="2688336"/>
            <a:ext cx="4069080" cy="320040"/>
          </a:xfrm>
          <a:prstGeom prst="rect">
            <a:avLst/>
          </a:prstGeom>
          <a:noFill/>
          <a:ln/>
        </p:spPr>
        <p:txBody>
          <a:bodyPr wrap="square" lIns="0" tIns="0" rIns="0" bIns="0" rtlCol="0" anchor="ctr">
            <a:normAutofit/>
          </a:bodyPr>
          <a:lstStyle/>
          <a:p>
            <a:pPr marL="0" indent="0">
              <a:buNone/>
            </a:pPr>
            <a:r>
              <a:rPr lang="en-US" sz="1090" dirty="0">
                <a:solidFill>
                  <a:srgbClr val="1F2937"/>
                </a:solidFill>
                <a:latin typeface="Aptos" pitchFamily="34" charset="0"/>
                <a:ea typeface="Aptos" pitchFamily="34" charset="-122"/>
                <a:cs typeface="Aptos" pitchFamily="34" charset="-120"/>
              </a:rPr>
              <a:t>Needed frequently throughout development</a:t>
            </a:r>
            <a:endParaRPr lang="en-US" sz="1090" dirty="0"/>
          </a:p>
        </p:txBody>
      </p:sp>
      <p:sp>
        <p:nvSpPr>
          <p:cNvPr id="16" name="Shape 14"/>
          <p:cNvSpPr/>
          <p:nvPr/>
        </p:nvSpPr>
        <p:spPr>
          <a:xfrm>
            <a:off x="594360" y="3236976"/>
            <a:ext cx="10972800" cy="658368"/>
          </a:xfrm>
          <a:prstGeom prst="rect">
            <a:avLst/>
          </a:prstGeom>
          <a:solidFill>
            <a:srgbClr val="FFFFFF"/>
          </a:solidFill>
          <a:ln w="8890">
            <a:solidFill>
              <a:srgbClr val="D9E1EA"/>
            </a:solidFill>
            <a:prstDash val="solid"/>
          </a:ln>
        </p:spPr>
        <p:txBody>
          <a:bodyPr/>
          <a:lstStyle/>
          <a:p>
            <a:endParaRPr lang="en-US"/>
          </a:p>
        </p:txBody>
      </p:sp>
      <p:sp>
        <p:nvSpPr>
          <p:cNvPr id="17" name="Text 15"/>
          <p:cNvSpPr/>
          <p:nvPr/>
        </p:nvSpPr>
        <p:spPr>
          <a:xfrm>
            <a:off x="822960" y="3392424"/>
            <a:ext cx="1920240" cy="228600"/>
          </a:xfrm>
          <a:prstGeom prst="rect">
            <a:avLst/>
          </a:prstGeom>
          <a:noFill/>
          <a:ln/>
        </p:spPr>
        <p:txBody>
          <a:bodyPr wrap="square" lIns="0" tIns="0" rIns="0" bIns="0" rtlCol="0" anchor="ctr"/>
          <a:lstStyle/>
          <a:p>
            <a:pPr marL="0" indent="0">
              <a:buNone/>
            </a:pPr>
            <a:r>
              <a:rPr lang="en-US" sz="1150" b="1" dirty="0">
                <a:solidFill>
                  <a:srgbClr val="1F3A5F"/>
                </a:solidFill>
                <a:latin typeface="Aptos" pitchFamily="34" charset="0"/>
                <a:ea typeface="Aptos" pitchFamily="34" charset="-122"/>
                <a:cs typeface="Aptos" pitchFamily="34" charset="-120"/>
              </a:rPr>
              <a:t>Risk / uncertainty</a:t>
            </a:r>
            <a:endParaRPr lang="en-US" sz="1150" dirty="0"/>
          </a:p>
        </p:txBody>
      </p:sp>
      <p:sp>
        <p:nvSpPr>
          <p:cNvPr id="18" name="Text 16"/>
          <p:cNvSpPr/>
          <p:nvPr/>
        </p:nvSpPr>
        <p:spPr>
          <a:xfrm>
            <a:off x="3063240" y="3346704"/>
            <a:ext cx="3337560" cy="320040"/>
          </a:xfrm>
          <a:prstGeom prst="rect">
            <a:avLst/>
          </a:prstGeom>
          <a:noFill/>
          <a:ln/>
        </p:spPr>
        <p:txBody>
          <a:bodyPr wrap="square" lIns="0" tIns="0" rIns="0" bIns="0" rtlCol="0" anchor="ctr">
            <a:normAutofit/>
          </a:bodyPr>
          <a:lstStyle/>
          <a:p>
            <a:pPr marL="0" indent="0">
              <a:buNone/>
            </a:pPr>
            <a:r>
              <a:rPr lang="en-US" sz="1090" dirty="0">
                <a:solidFill>
                  <a:srgbClr val="1F2937"/>
                </a:solidFill>
                <a:latin typeface="Aptos" pitchFamily="34" charset="0"/>
                <a:ea typeface="Aptos" pitchFamily="34" charset="-122"/>
                <a:cs typeface="Aptos" pitchFamily="34" charset="-120"/>
              </a:rPr>
              <a:t>Low, solution is well understood</a:t>
            </a:r>
            <a:endParaRPr lang="en-US" sz="1090" dirty="0"/>
          </a:p>
        </p:txBody>
      </p:sp>
      <p:sp>
        <p:nvSpPr>
          <p:cNvPr id="19" name="Text 17"/>
          <p:cNvSpPr/>
          <p:nvPr/>
        </p:nvSpPr>
        <p:spPr>
          <a:xfrm>
            <a:off x="6858000" y="3346704"/>
            <a:ext cx="4069080" cy="320040"/>
          </a:xfrm>
          <a:prstGeom prst="rect">
            <a:avLst/>
          </a:prstGeom>
          <a:noFill/>
          <a:ln/>
        </p:spPr>
        <p:txBody>
          <a:bodyPr wrap="square" lIns="0" tIns="0" rIns="0" bIns="0" rtlCol="0" anchor="ctr">
            <a:normAutofit/>
          </a:bodyPr>
          <a:lstStyle/>
          <a:p>
            <a:pPr marL="0" indent="0">
              <a:buNone/>
            </a:pPr>
            <a:r>
              <a:rPr lang="en-US" sz="1090" dirty="0">
                <a:solidFill>
                  <a:srgbClr val="1F2937"/>
                </a:solidFill>
                <a:latin typeface="Aptos" pitchFamily="34" charset="0"/>
                <a:ea typeface="Aptos" pitchFamily="34" charset="-122"/>
                <a:cs typeface="Aptos" pitchFamily="34" charset="-120"/>
              </a:rPr>
              <a:t>Higher, experimentation and learning are expected</a:t>
            </a:r>
            <a:endParaRPr lang="en-US" sz="1090" dirty="0"/>
          </a:p>
        </p:txBody>
      </p:sp>
      <p:sp>
        <p:nvSpPr>
          <p:cNvPr id="20" name="Shape 18"/>
          <p:cNvSpPr/>
          <p:nvPr/>
        </p:nvSpPr>
        <p:spPr>
          <a:xfrm>
            <a:off x="594360" y="3895344"/>
            <a:ext cx="10972800" cy="658368"/>
          </a:xfrm>
          <a:prstGeom prst="rect">
            <a:avLst/>
          </a:prstGeom>
          <a:solidFill>
            <a:srgbClr val="F2F5F8"/>
          </a:solidFill>
          <a:ln w="8890">
            <a:solidFill>
              <a:srgbClr val="D9E1EA"/>
            </a:solidFill>
            <a:prstDash val="solid"/>
          </a:ln>
        </p:spPr>
        <p:txBody>
          <a:bodyPr/>
          <a:lstStyle/>
          <a:p>
            <a:endParaRPr lang="en-US"/>
          </a:p>
        </p:txBody>
      </p:sp>
      <p:sp>
        <p:nvSpPr>
          <p:cNvPr id="21" name="Text 19"/>
          <p:cNvSpPr/>
          <p:nvPr/>
        </p:nvSpPr>
        <p:spPr>
          <a:xfrm>
            <a:off x="822960" y="4050792"/>
            <a:ext cx="1920240" cy="228600"/>
          </a:xfrm>
          <a:prstGeom prst="rect">
            <a:avLst/>
          </a:prstGeom>
          <a:noFill/>
          <a:ln/>
        </p:spPr>
        <p:txBody>
          <a:bodyPr wrap="square" lIns="0" tIns="0" rIns="0" bIns="0" rtlCol="0" anchor="ctr"/>
          <a:lstStyle/>
          <a:p>
            <a:pPr marL="0" indent="0">
              <a:buNone/>
            </a:pPr>
            <a:r>
              <a:rPr lang="en-US" sz="1150" b="1" dirty="0">
                <a:solidFill>
                  <a:srgbClr val="1F3A5F"/>
                </a:solidFill>
                <a:latin typeface="Aptos" pitchFamily="34" charset="0"/>
                <a:ea typeface="Aptos" pitchFamily="34" charset="-122"/>
                <a:cs typeface="Aptos" pitchFamily="34" charset="-120"/>
              </a:rPr>
              <a:t>Documentation / approvals</a:t>
            </a:r>
            <a:endParaRPr lang="en-US" sz="1150" dirty="0"/>
          </a:p>
        </p:txBody>
      </p:sp>
      <p:sp>
        <p:nvSpPr>
          <p:cNvPr id="22" name="Text 20"/>
          <p:cNvSpPr/>
          <p:nvPr/>
        </p:nvSpPr>
        <p:spPr>
          <a:xfrm>
            <a:off x="3063240" y="4005072"/>
            <a:ext cx="3337560" cy="320040"/>
          </a:xfrm>
          <a:prstGeom prst="rect">
            <a:avLst/>
          </a:prstGeom>
          <a:noFill/>
          <a:ln/>
        </p:spPr>
        <p:txBody>
          <a:bodyPr wrap="square" lIns="0" tIns="0" rIns="0" bIns="0" rtlCol="0" anchor="ctr">
            <a:normAutofit/>
          </a:bodyPr>
          <a:lstStyle/>
          <a:p>
            <a:pPr marL="0" indent="0">
              <a:buNone/>
            </a:pPr>
            <a:r>
              <a:rPr lang="en-US" sz="1090" dirty="0">
                <a:solidFill>
                  <a:srgbClr val="1F2937"/>
                </a:solidFill>
                <a:latin typeface="Aptos" pitchFamily="34" charset="0"/>
                <a:ea typeface="Aptos" pitchFamily="34" charset="-122"/>
                <a:cs typeface="Aptos" pitchFamily="34" charset="-120"/>
              </a:rPr>
              <a:t>Heavy formal documentation or stage gates</a:t>
            </a:r>
            <a:endParaRPr lang="en-US" sz="1090" dirty="0"/>
          </a:p>
        </p:txBody>
      </p:sp>
      <p:sp>
        <p:nvSpPr>
          <p:cNvPr id="23" name="Text 21"/>
          <p:cNvSpPr/>
          <p:nvPr/>
        </p:nvSpPr>
        <p:spPr>
          <a:xfrm>
            <a:off x="6858000" y="4005072"/>
            <a:ext cx="4069080" cy="320040"/>
          </a:xfrm>
          <a:prstGeom prst="rect">
            <a:avLst/>
          </a:prstGeom>
          <a:noFill/>
          <a:ln/>
        </p:spPr>
        <p:txBody>
          <a:bodyPr wrap="square" lIns="0" tIns="0" rIns="0" bIns="0" rtlCol="0" anchor="ctr">
            <a:normAutofit/>
          </a:bodyPr>
          <a:lstStyle/>
          <a:p>
            <a:pPr marL="0" indent="0">
              <a:buNone/>
            </a:pPr>
            <a:r>
              <a:rPr lang="en-US" sz="1090" dirty="0">
                <a:solidFill>
                  <a:srgbClr val="1F2937"/>
                </a:solidFill>
                <a:latin typeface="Aptos" pitchFamily="34" charset="0"/>
                <a:ea typeface="Aptos" pitchFamily="34" charset="-122"/>
                <a:cs typeface="Aptos" pitchFamily="34" charset="-120"/>
              </a:rPr>
              <a:t>Lightweight documentation with working increments</a:t>
            </a:r>
            <a:endParaRPr lang="en-US" sz="1090" dirty="0"/>
          </a:p>
        </p:txBody>
      </p:sp>
      <p:sp>
        <p:nvSpPr>
          <p:cNvPr id="24" name="Shape 22"/>
          <p:cNvSpPr/>
          <p:nvPr/>
        </p:nvSpPr>
        <p:spPr>
          <a:xfrm>
            <a:off x="594360" y="4553712"/>
            <a:ext cx="10972800" cy="658368"/>
          </a:xfrm>
          <a:prstGeom prst="rect">
            <a:avLst/>
          </a:prstGeom>
          <a:solidFill>
            <a:srgbClr val="FFFFFF"/>
          </a:solidFill>
          <a:ln w="8890">
            <a:solidFill>
              <a:srgbClr val="D9E1EA"/>
            </a:solidFill>
            <a:prstDash val="solid"/>
          </a:ln>
        </p:spPr>
        <p:txBody>
          <a:bodyPr/>
          <a:lstStyle/>
          <a:p>
            <a:endParaRPr lang="en-US"/>
          </a:p>
        </p:txBody>
      </p:sp>
      <p:sp>
        <p:nvSpPr>
          <p:cNvPr id="25" name="Text 23"/>
          <p:cNvSpPr/>
          <p:nvPr/>
        </p:nvSpPr>
        <p:spPr>
          <a:xfrm>
            <a:off x="822960" y="4709160"/>
            <a:ext cx="1920240" cy="228600"/>
          </a:xfrm>
          <a:prstGeom prst="rect">
            <a:avLst/>
          </a:prstGeom>
          <a:noFill/>
          <a:ln/>
        </p:spPr>
        <p:txBody>
          <a:bodyPr wrap="square" lIns="0" tIns="0" rIns="0" bIns="0" rtlCol="0" anchor="ctr"/>
          <a:lstStyle/>
          <a:p>
            <a:pPr marL="0" indent="0">
              <a:buNone/>
            </a:pPr>
            <a:r>
              <a:rPr lang="en-US" sz="1150" b="1" dirty="0">
                <a:solidFill>
                  <a:srgbClr val="1F3A5F"/>
                </a:solidFill>
                <a:latin typeface="Aptos" pitchFamily="34" charset="0"/>
                <a:ea typeface="Aptos" pitchFamily="34" charset="-122"/>
                <a:cs typeface="Aptos" pitchFamily="34" charset="-120"/>
              </a:rPr>
              <a:t>Delivery strategy</a:t>
            </a:r>
            <a:endParaRPr lang="en-US" sz="1150" dirty="0"/>
          </a:p>
        </p:txBody>
      </p:sp>
      <p:sp>
        <p:nvSpPr>
          <p:cNvPr id="26" name="Text 24"/>
          <p:cNvSpPr/>
          <p:nvPr/>
        </p:nvSpPr>
        <p:spPr>
          <a:xfrm>
            <a:off x="3063240" y="4663440"/>
            <a:ext cx="3337560" cy="320040"/>
          </a:xfrm>
          <a:prstGeom prst="rect">
            <a:avLst/>
          </a:prstGeom>
          <a:noFill/>
          <a:ln/>
        </p:spPr>
        <p:txBody>
          <a:bodyPr wrap="square" lIns="0" tIns="0" rIns="0" bIns="0" rtlCol="0" anchor="ctr">
            <a:normAutofit/>
          </a:bodyPr>
          <a:lstStyle/>
          <a:p>
            <a:pPr marL="0" indent="0">
              <a:buNone/>
            </a:pPr>
            <a:r>
              <a:rPr lang="en-US" sz="1090" dirty="0">
                <a:solidFill>
                  <a:srgbClr val="1F2937"/>
                </a:solidFill>
                <a:latin typeface="Aptos" pitchFamily="34" charset="0"/>
                <a:ea typeface="Aptos" pitchFamily="34" charset="-122"/>
                <a:cs typeface="Aptos" pitchFamily="34" charset="-120"/>
              </a:rPr>
              <a:t>One major release is acceptable</a:t>
            </a:r>
            <a:endParaRPr lang="en-US" sz="1090" dirty="0"/>
          </a:p>
        </p:txBody>
      </p:sp>
      <p:sp>
        <p:nvSpPr>
          <p:cNvPr id="27" name="Text 25"/>
          <p:cNvSpPr/>
          <p:nvPr/>
        </p:nvSpPr>
        <p:spPr>
          <a:xfrm>
            <a:off x="6858000" y="4663440"/>
            <a:ext cx="4069080" cy="320040"/>
          </a:xfrm>
          <a:prstGeom prst="rect">
            <a:avLst/>
          </a:prstGeom>
          <a:noFill/>
          <a:ln/>
        </p:spPr>
        <p:txBody>
          <a:bodyPr wrap="square" lIns="0" tIns="0" rIns="0" bIns="0" rtlCol="0" anchor="ctr">
            <a:normAutofit/>
          </a:bodyPr>
          <a:lstStyle/>
          <a:p>
            <a:pPr marL="0" indent="0">
              <a:buNone/>
            </a:pPr>
            <a:r>
              <a:rPr lang="en-US" sz="1090" dirty="0">
                <a:solidFill>
                  <a:srgbClr val="1F2937"/>
                </a:solidFill>
                <a:latin typeface="Aptos" pitchFamily="34" charset="0"/>
                <a:ea typeface="Aptos" pitchFamily="34" charset="-122"/>
                <a:cs typeface="Aptos" pitchFamily="34" charset="-120"/>
              </a:rPr>
              <a:t>Incremental value is useful or necessary</a:t>
            </a:r>
            <a:endParaRPr lang="en-US" sz="1090" dirty="0"/>
          </a:p>
        </p:txBody>
      </p:sp>
      <p:sp>
        <p:nvSpPr>
          <p:cNvPr id="28" name="Shape 26"/>
          <p:cNvSpPr/>
          <p:nvPr/>
        </p:nvSpPr>
        <p:spPr>
          <a:xfrm>
            <a:off x="594360" y="5212080"/>
            <a:ext cx="10972800" cy="658368"/>
          </a:xfrm>
          <a:prstGeom prst="rect">
            <a:avLst/>
          </a:prstGeom>
          <a:solidFill>
            <a:srgbClr val="F2F5F8"/>
          </a:solidFill>
          <a:ln w="8890">
            <a:solidFill>
              <a:srgbClr val="D9E1EA"/>
            </a:solidFill>
            <a:prstDash val="solid"/>
          </a:ln>
        </p:spPr>
        <p:txBody>
          <a:bodyPr/>
          <a:lstStyle/>
          <a:p>
            <a:endParaRPr lang="en-US"/>
          </a:p>
        </p:txBody>
      </p:sp>
      <p:sp>
        <p:nvSpPr>
          <p:cNvPr id="29" name="Text 27"/>
          <p:cNvSpPr/>
          <p:nvPr/>
        </p:nvSpPr>
        <p:spPr>
          <a:xfrm>
            <a:off x="822960" y="5367528"/>
            <a:ext cx="1920240" cy="228600"/>
          </a:xfrm>
          <a:prstGeom prst="rect">
            <a:avLst/>
          </a:prstGeom>
          <a:noFill/>
          <a:ln/>
        </p:spPr>
        <p:txBody>
          <a:bodyPr wrap="square" lIns="0" tIns="0" rIns="0" bIns="0" rtlCol="0" anchor="ctr"/>
          <a:lstStyle/>
          <a:p>
            <a:pPr marL="0" indent="0">
              <a:buNone/>
            </a:pPr>
            <a:r>
              <a:rPr lang="en-US" sz="1150" b="1" dirty="0">
                <a:solidFill>
                  <a:srgbClr val="1F3A5F"/>
                </a:solidFill>
                <a:latin typeface="Aptos" pitchFamily="34" charset="0"/>
                <a:ea typeface="Aptos" pitchFamily="34" charset="-122"/>
                <a:cs typeface="Aptos" pitchFamily="34" charset="-120"/>
              </a:rPr>
              <a:t>Team environment</a:t>
            </a:r>
            <a:endParaRPr lang="en-US" sz="1150" dirty="0"/>
          </a:p>
        </p:txBody>
      </p:sp>
      <p:sp>
        <p:nvSpPr>
          <p:cNvPr id="30" name="Text 28"/>
          <p:cNvSpPr/>
          <p:nvPr/>
        </p:nvSpPr>
        <p:spPr>
          <a:xfrm>
            <a:off x="3063240" y="5321808"/>
            <a:ext cx="3337560" cy="320040"/>
          </a:xfrm>
          <a:prstGeom prst="rect">
            <a:avLst/>
          </a:prstGeom>
          <a:noFill/>
          <a:ln/>
        </p:spPr>
        <p:txBody>
          <a:bodyPr wrap="square" lIns="0" tIns="0" rIns="0" bIns="0" rtlCol="0" anchor="ctr">
            <a:normAutofit/>
          </a:bodyPr>
          <a:lstStyle/>
          <a:p>
            <a:pPr marL="0" indent="0">
              <a:buNone/>
            </a:pPr>
            <a:r>
              <a:rPr lang="en-US" sz="1090" dirty="0">
                <a:solidFill>
                  <a:srgbClr val="1F2937"/>
                </a:solidFill>
                <a:latin typeface="Aptos" pitchFamily="34" charset="0"/>
                <a:ea typeface="Aptos" pitchFamily="34" charset="-122"/>
                <a:cs typeface="Aptos" pitchFamily="34" charset="-120"/>
              </a:rPr>
              <a:t>Specialized handoffs are manageable</a:t>
            </a:r>
            <a:endParaRPr lang="en-US" sz="1090" dirty="0"/>
          </a:p>
        </p:txBody>
      </p:sp>
      <p:sp>
        <p:nvSpPr>
          <p:cNvPr id="31" name="Text 29"/>
          <p:cNvSpPr/>
          <p:nvPr/>
        </p:nvSpPr>
        <p:spPr>
          <a:xfrm>
            <a:off x="6858000" y="5321808"/>
            <a:ext cx="4069080" cy="320040"/>
          </a:xfrm>
          <a:prstGeom prst="rect">
            <a:avLst/>
          </a:prstGeom>
          <a:noFill/>
          <a:ln/>
        </p:spPr>
        <p:txBody>
          <a:bodyPr wrap="square" lIns="0" tIns="0" rIns="0" bIns="0" rtlCol="0" anchor="ctr">
            <a:normAutofit/>
          </a:bodyPr>
          <a:lstStyle/>
          <a:p>
            <a:pPr marL="0" indent="0">
              <a:buNone/>
            </a:pPr>
            <a:r>
              <a:rPr lang="en-US" sz="1090" dirty="0">
                <a:solidFill>
                  <a:srgbClr val="1F2937"/>
                </a:solidFill>
                <a:latin typeface="Aptos" pitchFamily="34" charset="0"/>
                <a:ea typeface="Aptos" pitchFamily="34" charset="-122"/>
                <a:cs typeface="Aptos" pitchFamily="34" charset="-120"/>
              </a:rPr>
              <a:t>Cross functional collaboration is available</a:t>
            </a:r>
            <a:endParaRPr lang="en-US" sz="1090" dirty="0"/>
          </a:p>
        </p:txBody>
      </p:sp>
      <p:sp>
        <p:nvSpPr>
          <p:cNvPr id="32" name="Text 30"/>
          <p:cNvSpPr/>
          <p:nvPr/>
        </p:nvSpPr>
        <p:spPr>
          <a:xfrm>
            <a:off x="640080" y="6245352"/>
            <a:ext cx="10881360" cy="182880"/>
          </a:xfrm>
          <a:prstGeom prst="rect">
            <a:avLst/>
          </a:prstGeom>
          <a:noFill/>
          <a:ln/>
        </p:spPr>
        <p:txBody>
          <a:bodyPr wrap="square" lIns="0" tIns="0" rIns="0" bIns="0" rtlCol="0" anchor="ctr">
            <a:normAutofit/>
          </a:bodyPr>
          <a:lstStyle/>
          <a:p>
            <a:pPr marL="0" indent="0">
              <a:buNone/>
            </a:pPr>
            <a:r>
              <a:rPr lang="en-US" sz="830" i="1" dirty="0">
                <a:solidFill>
                  <a:srgbClr val="64748B"/>
                </a:solidFill>
                <a:latin typeface="Aptos" pitchFamily="34" charset="0"/>
                <a:ea typeface="Aptos" pitchFamily="34" charset="-122"/>
                <a:cs typeface="Aptos" pitchFamily="34" charset="-120"/>
              </a:rPr>
              <a:t>Sources: Microsoft (2022); Kirvan, Lutkevich, &amp; Lewis (2024); Tozzi (2024).</a:t>
            </a:r>
            <a:endParaRPr lang="en-US" sz="830" dirty="0"/>
          </a:p>
        </p:txBody>
      </p:sp>
      <p:sp>
        <p:nvSpPr>
          <p:cNvPr id="33" name="Slide Number Placeholder 0"/>
          <p:cNvSpPr>
            <a:spLocks noGrp="1"/>
          </p:cNvSpPr>
          <p:nvPr>
            <p:ph type="sldNum" sz="quarter" idx="4294967295"/>
          </p:nvPr>
        </p:nvSpPr>
        <p:spPr>
          <a:xfrm>
            <a:off x="11686032" y="6501384"/>
            <a:ext cx="22860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Aptos"/>
                <a:ea typeface="Aptos"/>
                <a:cs typeface="Aptos"/>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94360" y="438912"/>
            <a:ext cx="10881360" cy="411480"/>
          </a:xfrm>
          <a:prstGeom prst="rect">
            <a:avLst/>
          </a:prstGeom>
          <a:noFill/>
          <a:ln/>
        </p:spPr>
        <p:txBody>
          <a:bodyPr wrap="square" lIns="0" tIns="0" rIns="0" bIns="0" rtlCol="0" anchor="ctr"/>
          <a:lstStyle/>
          <a:p>
            <a:pPr marL="0" indent="0">
              <a:buNone/>
            </a:pPr>
            <a:r>
              <a:rPr lang="en-US" sz="2600" b="1" dirty="0">
                <a:solidFill>
                  <a:srgbClr val="1F3A5F"/>
                </a:solidFill>
                <a:latin typeface="Aptos Display" pitchFamily="34" charset="0"/>
                <a:ea typeface="Aptos Display" pitchFamily="34" charset="-122"/>
                <a:cs typeface="Aptos Display" pitchFamily="34" charset="-120"/>
              </a:rPr>
              <a:t>5. Recommendation for Chada Tech</a:t>
            </a:r>
            <a:endParaRPr lang="en-US" sz="2600" dirty="0"/>
          </a:p>
        </p:txBody>
      </p:sp>
      <p:sp>
        <p:nvSpPr>
          <p:cNvPr id="3" name="Text 1"/>
          <p:cNvSpPr/>
          <p:nvPr/>
        </p:nvSpPr>
        <p:spPr>
          <a:xfrm>
            <a:off x="612648" y="877824"/>
            <a:ext cx="10698480" cy="274320"/>
          </a:xfrm>
          <a:prstGeom prst="rect">
            <a:avLst/>
          </a:prstGeom>
          <a:noFill/>
          <a:ln/>
        </p:spPr>
        <p:txBody>
          <a:bodyPr wrap="square" lIns="0" tIns="0" rIns="0" bIns="0" rtlCol="0" anchor="ctr"/>
          <a:lstStyle/>
          <a:p>
            <a:pPr marL="0" indent="0">
              <a:buNone/>
            </a:pPr>
            <a:r>
              <a:rPr lang="en-US" sz="1250" dirty="0">
                <a:solidFill>
                  <a:srgbClr val="64748B"/>
                </a:solidFill>
                <a:latin typeface="Aptos" pitchFamily="34" charset="0"/>
                <a:ea typeface="Aptos" pitchFamily="34" charset="-122"/>
                <a:cs typeface="Aptos" pitchFamily="34" charset="-120"/>
              </a:rPr>
              <a:t>Adopt Agile as the default for customer facing software projects, while selecting methods based on project conditions.</a:t>
            </a:r>
            <a:endParaRPr lang="en-US" sz="1250" dirty="0"/>
          </a:p>
        </p:txBody>
      </p:sp>
      <p:sp>
        <p:nvSpPr>
          <p:cNvPr id="4" name="Shape 2"/>
          <p:cNvSpPr/>
          <p:nvPr/>
        </p:nvSpPr>
        <p:spPr>
          <a:xfrm>
            <a:off x="777240" y="1417320"/>
            <a:ext cx="3657600" cy="4251960"/>
          </a:xfrm>
          <a:prstGeom prst="roundRect">
            <a:avLst/>
          </a:prstGeom>
          <a:solidFill>
            <a:srgbClr val="1F3A5F"/>
          </a:solidFill>
          <a:ln w="12700">
            <a:solidFill>
              <a:srgbClr val="1F3A5F"/>
            </a:solidFill>
            <a:prstDash val="solid"/>
          </a:ln>
        </p:spPr>
        <p:txBody>
          <a:bodyPr/>
          <a:lstStyle/>
          <a:p>
            <a:endParaRPr lang="en-US"/>
          </a:p>
        </p:txBody>
      </p:sp>
      <p:sp>
        <p:nvSpPr>
          <p:cNvPr id="5" name="Text 3"/>
          <p:cNvSpPr/>
          <p:nvPr/>
        </p:nvSpPr>
        <p:spPr>
          <a:xfrm>
            <a:off x="1097280" y="1783080"/>
            <a:ext cx="2971800" cy="731520"/>
          </a:xfrm>
          <a:prstGeom prst="rect">
            <a:avLst/>
          </a:prstGeom>
          <a:noFill/>
          <a:ln/>
        </p:spPr>
        <p:txBody>
          <a:bodyPr wrap="square" lIns="0" tIns="0" rIns="0" bIns="0" rtlCol="0" anchor="ctr"/>
          <a:lstStyle/>
          <a:p>
            <a:pPr marL="0" indent="0" algn="ctr">
              <a:buNone/>
            </a:pPr>
            <a:r>
              <a:rPr lang="en-US" sz="2500" b="1" dirty="0">
                <a:solidFill>
                  <a:srgbClr val="FFFFFF"/>
                </a:solidFill>
                <a:latin typeface="Aptos Display" pitchFamily="34" charset="0"/>
                <a:ea typeface="Aptos Display" pitchFamily="34" charset="-122"/>
                <a:cs typeface="Aptos Display" pitchFamily="34" charset="-120"/>
              </a:rPr>
              <a:t>Why Agile fits</a:t>
            </a:r>
            <a:endParaRPr lang="en-US" sz="2500" dirty="0"/>
          </a:p>
          <a:p>
            <a:pPr marL="0" indent="0" algn="ctr">
              <a:buNone/>
            </a:pPr>
            <a:r>
              <a:rPr lang="en-US" sz="2500" b="1" dirty="0">
                <a:solidFill>
                  <a:srgbClr val="FFFFFF"/>
                </a:solidFill>
                <a:latin typeface="Aptos Display" pitchFamily="34" charset="0"/>
                <a:ea typeface="Aptos Display" pitchFamily="34" charset="-122"/>
                <a:cs typeface="Aptos Display" pitchFamily="34" charset="-120"/>
              </a:rPr>
              <a:t>SNHU Travel</a:t>
            </a:r>
            <a:endParaRPr lang="en-US" sz="2500" dirty="0"/>
          </a:p>
        </p:txBody>
      </p:sp>
      <p:sp>
        <p:nvSpPr>
          <p:cNvPr id="6" name="Text 4"/>
          <p:cNvSpPr/>
          <p:nvPr/>
        </p:nvSpPr>
        <p:spPr>
          <a:xfrm>
            <a:off x="1143000" y="2743200"/>
            <a:ext cx="2926080" cy="2148840"/>
          </a:xfrm>
          <a:prstGeom prst="rect">
            <a:avLst/>
          </a:prstGeom>
          <a:noFill/>
          <a:ln/>
        </p:spPr>
        <p:txBody>
          <a:bodyPr wrap="square" lIns="381" tIns="381" rIns="381" bIns="381" rtlCol="0" anchor="ctr">
            <a:normAutofit lnSpcReduction="10000"/>
          </a:bodyPr>
          <a:lstStyle/>
          <a:p>
            <a:pPr marL="0" indent="0">
              <a:buNone/>
            </a:pPr>
            <a:r>
              <a:rPr lang="en-US" sz="1320" dirty="0">
                <a:solidFill>
                  <a:srgbClr val="E8EEF5"/>
                </a:solidFill>
                <a:latin typeface="Aptos" pitchFamily="34" charset="0"/>
                <a:ea typeface="Aptos" pitchFamily="34" charset="-122"/>
                <a:cs typeface="Aptos" pitchFamily="34" charset="-120"/>
              </a:rPr>
              <a:t>Customer preferences changed during development.</a:t>
            </a:r>
            <a:endParaRPr lang="en-US" sz="1320" dirty="0"/>
          </a:p>
          <a:p>
            <a:pPr marL="0" indent="0">
              <a:buNone/>
            </a:pPr>
            <a:endParaRPr lang="en-US" sz="1320" dirty="0"/>
          </a:p>
          <a:p>
            <a:pPr marL="0" indent="0">
              <a:buNone/>
            </a:pPr>
            <a:r>
              <a:rPr lang="en-US" sz="1320" dirty="0">
                <a:solidFill>
                  <a:srgbClr val="E8EEF5"/>
                </a:solidFill>
                <a:latin typeface="Aptos" pitchFamily="34" charset="0"/>
                <a:ea typeface="Aptos" pitchFamily="34" charset="-122"/>
                <a:cs typeface="Aptos" pitchFamily="34" charset="-120"/>
              </a:rPr>
              <a:t>The team needed frequent clarification and feedback.</a:t>
            </a:r>
            <a:endParaRPr lang="en-US" sz="1320" dirty="0"/>
          </a:p>
          <a:p>
            <a:pPr marL="0" indent="0">
              <a:buNone/>
            </a:pPr>
            <a:endParaRPr lang="en-US" sz="1320" dirty="0"/>
          </a:p>
          <a:p>
            <a:pPr marL="0" indent="0">
              <a:buNone/>
            </a:pPr>
            <a:r>
              <a:rPr lang="en-US" sz="1320" dirty="0">
                <a:solidFill>
                  <a:srgbClr val="E8EEF5"/>
                </a:solidFill>
                <a:latin typeface="Aptos" pitchFamily="34" charset="0"/>
                <a:ea typeface="Aptos" pitchFamily="34" charset="-122"/>
                <a:cs typeface="Aptos" pitchFamily="34" charset="-120"/>
              </a:rPr>
              <a:t>User stories allowed work to be prioritized and completed incrementally.</a:t>
            </a:r>
            <a:endParaRPr lang="en-US" sz="1320" dirty="0"/>
          </a:p>
          <a:p>
            <a:pPr marL="0" indent="0">
              <a:buNone/>
            </a:pPr>
            <a:endParaRPr lang="en-US" sz="1320" dirty="0"/>
          </a:p>
          <a:p>
            <a:pPr marL="0" indent="0">
              <a:buNone/>
            </a:pPr>
            <a:r>
              <a:rPr lang="en-US" sz="1320" dirty="0">
                <a:solidFill>
                  <a:srgbClr val="E8EEF5"/>
                </a:solidFill>
                <a:latin typeface="Aptos" pitchFamily="34" charset="0"/>
                <a:ea typeface="Aptos" pitchFamily="34" charset="-122"/>
                <a:cs typeface="Aptos" pitchFamily="34" charset="-120"/>
              </a:rPr>
              <a:t>Testing and development could respond quickly to new information.</a:t>
            </a:r>
            <a:endParaRPr lang="en-US" sz="1320" dirty="0"/>
          </a:p>
        </p:txBody>
      </p:sp>
      <p:sp>
        <p:nvSpPr>
          <p:cNvPr id="7" name="Shape 5"/>
          <p:cNvSpPr/>
          <p:nvPr/>
        </p:nvSpPr>
        <p:spPr>
          <a:xfrm>
            <a:off x="4754880" y="1417320"/>
            <a:ext cx="3063240" cy="1847088"/>
          </a:xfrm>
          <a:prstGeom prst="roundRect">
            <a:avLst>
              <a:gd name="adj" fmla="val 3960"/>
            </a:avLst>
          </a:prstGeom>
          <a:solidFill>
            <a:srgbClr val="FFF7DD"/>
          </a:solidFill>
          <a:ln w="12700">
            <a:solidFill>
              <a:srgbClr val="D9E1EA"/>
            </a:solidFill>
            <a:prstDash val="solid"/>
          </a:ln>
        </p:spPr>
        <p:txBody>
          <a:bodyPr/>
          <a:lstStyle/>
          <a:p>
            <a:endParaRPr lang="en-US"/>
          </a:p>
        </p:txBody>
      </p:sp>
      <p:sp>
        <p:nvSpPr>
          <p:cNvPr id="8" name="Shape 6"/>
          <p:cNvSpPr/>
          <p:nvPr/>
        </p:nvSpPr>
        <p:spPr>
          <a:xfrm>
            <a:off x="4754880" y="1417320"/>
            <a:ext cx="73152" cy="1847088"/>
          </a:xfrm>
          <a:prstGeom prst="rect">
            <a:avLst/>
          </a:prstGeom>
          <a:solidFill>
            <a:srgbClr val="E9C46A"/>
          </a:solidFill>
          <a:ln w="12700">
            <a:solidFill>
              <a:srgbClr val="E9C46A"/>
            </a:solidFill>
            <a:prstDash val="solid"/>
          </a:ln>
        </p:spPr>
        <p:txBody>
          <a:bodyPr/>
          <a:lstStyle/>
          <a:p>
            <a:endParaRPr lang="en-US"/>
          </a:p>
        </p:txBody>
      </p:sp>
      <p:sp>
        <p:nvSpPr>
          <p:cNvPr id="9" name="Text 7"/>
          <p:cNvSpPr/>
          <p:nvPr/>
        </p:nvSpPr>
        <p:spPr>
          <a:xfrm>
            <a:off x="4983480" y="1563624"/>
            <a:ext cx="2679192" cy="256032"/>
          </a:xfrm>
          <a:prstGeom prst="rect">
            <a:avLst/>
          </a:prstGeom>
          <a:noFill/>
          <a:ln/>
        </p:spPr>
        <p:txBody>
          <a:bodyPr wrap="square" lIns="0" tIns="0" rIns="0" bIns="0" rtlCol="0" anchor="ctr"/>
          <a:lstStyle/>
          <a:p>
            <a:pPr marL="0" indent="0">
              <a:buNone/>
            </a:pPr>
            <a:r>
              <a:rPr lang="en-US" sz="1600" b="1" dirty="0">
                <a:solidFill>
                  <a:srgbClr val="1F3A5F"/>
                </a:solidFill>
                <a:latin typeface="Aptos Display" pitchFamily="34" charset="0"/>
                <a:ea typeface="Aptos Display" pitchFamily="34" charset="-122"/>
                <a:cs typeface="Aptos Display" pitchFamily="34" charset="-120"/>
              </a:rPr>
              <a:t>Scale carefully</a:t>
            </a:r>
            <a:endParaRPr lang="en-US" sz="1600" dirty="0"/>
          </a:p>
        </p:txBody>
      </p:sp>
      <p:sp>
        <p:nvSpPr>
          <p:cNvPr id="10" name="Text 8"/>
          <p:cNvSpPr/>
          <p:nvPr/>
        </p:nvSpPr>
        <p:spPr>
          <a:xfrm>
            <a:off x="4983480" y="1901952"/>
            <a:ext cx="2679192" cy="1225296"/>
          </a:xfrm>
          <a:prstGeom prst="rect">
            <a:avLst/>
          </a:prstGeom>
          <a:noFill/>
          <a:ln/>
        </p:spPr>
        <p:txBody>
          <a:bodyPr wrap="square" lIns="254" tIns="254" rIns="254" bIns="254" rtlCol="0" anchor="t">
            <a:normAutofit/>
          </a:bodyPr>
          <a:lstStyle/>
          <a:p>
            <a:pPr marL="0" indent="0">
              <a:buNone/>
            </a:pPr>
            <a:r>
              <a:rPr lang="en-US" sz="1150" dirty="0">
                <a:solidFill>
                  <a:srgbClr val="1F2937"/>
                </a:solidFill>
                <a:latin typeface="Aptos" pitchFamily="34" charset="0"/>
                <a:ea typeface="Aptos" pitchFamily="34" charset="-122"/>
                <a:cs typeface="Aptos" pitchFamily="34" charset="-120"/>
              </a:rPr>
              <a:t>Train teams on Scrum accountabilities and events. A new framework will not fix weak communication by itself.</a:t>
            </a:r>
            <a:endParaRPr lang="en-US" sz="1150" dirty="0"/>
          </a:p>
        </p:txBody>
      </p:sp>
      <p:sp>
        <p:nvSpPr>
          <p:cNvPr id="11" name="Shape 9"/>
          <p:cNvSpPr/>
          <p:nvPr/>
        </p:nvSpPr>
        <p:spPr>
          <a:xfrm>
            <a:off x="8092440" y="1417320"/>
            <a:ext cx="3063240" cy="1847088"/>
          </a:xfrm>
          <a:prstGeom prst="roundRect">
            <a:avLst>
              <a:gd name="adj" fmla="val 3960"/>
            </a:avLst>
          </a:prstGeom>
          <a:solidFill>
            <a:srgbClr val="E7F5F2"/>
          </a:solidFill>
          <a:ln w="12700">
            <a:solidFill>
              <a:srgbClr val="D9E1EA"/>
            </a:solidFill>
            <a:prstDash val="solid"/>
          </a:ln>
        </p:spPr>
        <p:txBody>
          <a:bodyPr/>
          <a:lstStyle/>
          <a:p>
            <a:endParaRPr lang="en-US"/>
          </a:p>
        </p:txBody>
      </p:sp>
      <p:sp>
        <p:nvSpPr>
          <p:cNvPr id="12" name="Shape 10"/>
          <p:cNvSpPr/>
          <p:nvPr/>
        </p:nvSpPr>
        <p:spPr>
          <a:xfrm>
            <a:off x="8092440" y="1417320"/>
            <a:ext cx="73152" cy="1847088"/>
          </a:xfrm>
          <a:prstGeom prst="rect">
            <a:avLst/>
          </a:prstGeom>
          <a:solidFill>
            <a:srgbClr val="2A9D8F"/>
          </a:solidFill>
          <a:ln w="12700">
            <a:solidFill>
              <a:srgbClr val="2A9D8F"/>
            </a:solidFill>
            <a:prstDash val="solid"/>
          </a:ln>
        </p:spPr>
        <p:txBody>
          <a:bodyPr/>
          <a:lstStyle/>
          <a:p>
            <a:endParaRPr lang="en-US"/>
          </a:p>
        </p:txBody>
      </p:sp>
      <p:sp>
        <p:nvSpPr>
          <p:cNvPr id="13" name="Text 11"/>
          <p:cNvSpPr/>
          <p:nvPr/>
        </p:nvSpPr>
        <p:spPr>
          <a:xfrm>
            <a:off x="8321040" y="1563624"/>
            <a:ext cx="2679192" cy="256032"/>
          </a:xfrm>
          <a:prstGeom prst="rect">
            <a:avLst/>
          </a:prstGeom>
          <a:noFill/>
          <a:ln/>
        </p:spPr>
        <p:txBody>
          <a:bodyPr wrap="square" lIns="0" tIns="0" rIns="0" bIns="0" rtlCol="0" anchor="ctr"/>
          <a:lstStyle/>
          <a:p>
            <a:pPr marL="0" indent="0">
              <a:buNone/>
            </a:pPr>
            <a:r>
              <a:rPr lang="en-US" sz="1600" b="1" dirty="0">
                <a:solidFill>
                  <a:srgbClr val="1F3A5F"/>
                </a:solidFill>
                <a:latin typeface="Aptos Display" pitchFamily="34" charset="0"/>
                <a:ea typeface="Aptos Display" pitchFamily="34" charset="-122"/>
                <a:cs typeface="Aptos Display" pitchFamily="34" charset="-120"/>
              </a:rPr>
              <a:t>Use transparent tools</a:t>
            </a:r>
            <a:endParaRPr lang="en-US" sz="1600" dirty="0"/>
          </a:p>
        </p:txBody>
      </p:sp>
      <p:sp>
        <p:nvSpPr>
          <p:cNvPr id="14" name="Text 12"/>
          <p:cNvSpPr/>
          <p:nvPr/>
        </p:nvSpPr>
        <p:spPr>
          <a:xfrm>
            <a:off x="8321040" y="1901952"/>
            <a:ext cx="2679192" cy="1225296"/>
          </a:xfrm>
          <a:prstGeom prst="rect">
            <a:avLst/>
          </a:prstGeom>
          <a:noFill/>
          <a:ln/>
        </p:spPr>
        <p:txBody>
          <a:bodyPr wrap="square" lIns="254" tIns="254" rIns="254" bIns="254" rtlCol="0" anchor="t">
            <a:normAutofit/>
          </a:bodyPr>
          <a:lstStyle/>
          <a:p>
            <a:pPr marL="0" indent="0">
              <a:buNone/>
            </a:pPr>
            <a:r>
              <a:rPr lang="en-US" sz="1150" dirty="0">
                <a:solidFill>
                  <a:srgbClr val="1F2937"/>
                </a:solidFill>
                <a:latin typeface="Aptos" pitchFamily="34" charset="0"/>
                <a:ea typeface="Aptos" pitchFamily="34" charset="-122"/>
                <a:cs typeface="Aptos" pitchFamily="34" charset="-120"/>
              </a:rPr>
              <a:t>Keep backlogs, priorities, owners, and blockers visible in a shared system such as Azure Boards or a similar Agile tool.</a:t>
            </a:r>
            <a:endParaRPr lang="en-US" sz="1150" dirty="0"/>
          </a:p>
        </p:txBody>
      </p:sp>
      <p:sp>
        <p:nvSpPr>
          <p:cNvPr id="15" name="Shape 13"/>
          <p:cNvSpPr/>
          <p:nvPr/>
        </p:nvSpPr>
        <p:spPr>
          <a:xfrm>
            <a:off x="4754880" y="3566160"/>
            <a:ext cx="3063240" cy="1847088"/>
          </a:xfrm>
          <a:prstGeom prst="roundRect">
            <a:avLst>
              <a:gd name="adj" fmla="val 3960"/>
            </a:avLst>
          </a:prstGeom>
          <a:solidFill>
            <a:srgbClr val="FCEDE9"/>
          </a:solidFill>
          <a:ln w="12700">
            <a:solidFill>
              <a:srgbClr val="D9E1EA"/>
            </a:solidFill>
            <a:prstDash val="solid"/>
          </a:ln>
        </p:spPr>
        <p:txBody>
          <a:bodyPr/>
          <a:lstStyle/>
          <a:p>
            <a:endParaRPr lang="en-US"/>
          </a:p>
        </p:txBody>
      </p:sp>
      <p:sp>
        <p:nvSpPr>
          <p:cNvPr id="16" name="Shape 14"/>
          <p:cNvSpPr/>
          <p:nvPr/>
        </p:nvSpPr>
        <p:spPr>
          <a:xfrm>
            <a:off x="4754880" y="3566160"/>
            <a:ext cx="73152" cy="1847088"/>
          </a:xfrm>
          <a:prstGeom prst="rect">
            <a:avLst/>
          </a:prstGeom>
          <a:solidFill>
            <a:srgbClr val="E76F51"/>
          </a:solidFill>
          <a:ln w="12700">
            <a:solidFill>
              <a:srgbClr val="E76F51"/>
            </a:solidFill>
            <a:prstDash val="solid"/>
          </a:ln>
        </p:spPr>
        <p:txBody>
          <a:bodyPr/>
          <a:lstStyle/>
          <a:p>
            <a:endParaRPr lang="en-US"/>
          </a:p>
        </p:txBody>
      </p:sp>
      <p:sp>
        <p:nvSpPr>
          <p:cNvPr id="17" name="Text 15"/>
          <p:cNvSpPr/>
          <p:nvPr/>
        </p:nvSpPr>
        <p:spPr>
          <a:xfrm>
            <a:off x="4983480" y="3712464"/>
            <a:ext cx="2679192" cy="256032"/>
          </a:xfrm>
          <a:prstGeom prst="rect">
            <a:avLst/>
          </a:prstGeom>
          <a:noFill/>
          <a:ln/>
        </p:spPr>
        <p:txBody>
          <a:bodyPr wrap="square" lIns="0" tIns="0" rIns="0" bIns="0" rtlCol="0" anchor="ctr"/>
          <a:lstStyle/>
          <a:p>
            <a:pPr marL="0" indent="0">
              <a:buNone/>
            </a:pPr>
            <a:r>
              <a:rPr lang="en-US" sz="1600" b="1" dirty="0">
                <a:solidFill>
                  <a:srgbClr val="1F3A5F"/>
                </a:solidFill>
                <a:latin typeface="Aptos Display" pitchFamily="34" charset="0"/>
                <a:ea typeface="Aptos Display" pitchFamily="34" charset="-122"/>
                <a:cs typeface="Aptos Display" pitchFamily="34" charset="-120"/>
              </a:rPr>
              <a:t>Keep Waterfall available</a:t>
            </a:r>
            <a:endParaRPr lang="en-US" sz="1600" dirty="0"/>
          </a:p>
        </p:txBody>
      </p:sp>
      <p:sp>
        <p:nvSpPr>
          <p:cNvPr id="18" name="Text 16"/>
          <p:cNvSpPr/>
          <p:nvPr/>
        </p:nvSpPr>
        <p:spPr>
          <a:xfrm>
            <a:off x="4983480" y="4050792"/>
            <a:ext cx="2679192" cy="1225296"/>
          </a:xfrm>
          <a:prstGeom prst="rect">
            <a:avLst/>
          </a:prstGeom>
          <a:noFill/>
          <a:ln/>
        </p:spPr>
        <p:txBody>
          <a:bodyPr wrap="square" lIns="254" tIns="254" rIns="254" bIns="254" rtlCol="0" anchor="t">
            <a:normAutofit/>
          </a:bodyPr>
          <a:lstStyle/>
          <a:p>
            <a:pPr marL="0" indent="0">
              <a:buNone/>
            </a:pPr>
            <a:r>
              <a:rPr lang="en-US" sz="1150" dirty="0">
                <a:solidFill>
                  <a:srgbClr val="1F2937"/>
                </a:solidFill>
                <a:latin typeface="Aptos" pitchFamily="34" charset="0"/>
                <a:ea typeface="Aptos" pitchFamily="34" charset="-122"/>
                <a:cs typeface="Aptos" pitchFamily="34" charset="-120"/>
              </a:rPr>
              <a:t>Predictive approaches can still fit projects with fixed requirements or low expected change.</a:t>
            </a:r>
            <a:endParaRPr lang="en-US" sz="1150" dirty="0"/>
          </a:p>
        </p:txBody>
      </p:sp>
      <p:sp>
        <p:nvSpPr>
          <p:cNvPr id="19" name="Shape 17"/>
          <p:cNvSpPr/>
          <p:nvPr/>
        </p:nvSpPr>
        <p:spPr>
          <a:xfrm>
            <a:off x="8092440" y="3566160"/>
            <a:ext cx="3063240" cy="1847088"/>
          </a:xfrm>
          <a:prstGeom prst="roundRect">
            <a:avLst>
              <a:gd name="adj" fmla="val 3960"/>
            </a:avLst>
          </a:prstGeom>
          <a:solidFill>
            <a:srgbClr val="FFF1E8"/>
          </a:solidFill>
          <a:ln w="12700">
            <a:solidFill>
              <a:srgbClr val="D9E1EA"/>
            </a:solidFill>
            <a:prstDash val="solid"/>
          </a:ln>
        </p:spPr>
        <p:txBody>
          <a:bodyPr/>
          <a:lstStyle/>
          <a:p>
            <a:endParaRPr lang="en-US"/>
          </a:p>
        </p:txBody>
      </p:sp>
      <p:sp>
        <p:nvSpPr>
          <p:cNvPr id="20" name="Shape 18"/>
          <p:cNvSpPr/>
          <p:nvPr/>
        </p:nvSpPr>
        <p:spPr>
          <a:xfrm>
            <a:off x="8092440" y="3566160"/>
            <a:ext cx="73152" cy="1847088"/>
          </a:xfrm>
          <a:prstGeom prst="rect">
            <a:avLst/>
          </a:prstGeom>
          <a:solidFill>
            <a:srgbClr val="F4A261"/>
          </a:solidFill>
          <a:ln w="12700">
            <a:solidFill>
              <a:srgbClr val="F4A261"/>
            </a:solidFill>
            <a:prstDash val="solid"/>
          </a:ln>
        </p:spPr>
        <p:txBody>
          <a:bodyPr/>
          <a:lstStyle/>
          <a:p>
            <a:endParaRPr lang="en-US"/>
          </a:p>
        </p:txBody>
      </p:sp>
      <p:sp>
        <p:nvSpPr>
          <p:cNvPr id="21" name="Text 19"/>
          <p:cNvSpPr/>
          <p:nvPr/>
        </p:nvSpPr>
        <p:spPr>
          <a:xfrm>
            <a:off x="8321040" y="3712464"/>
            <a:ext cx="2679192" cy="256032"/>
          </a:xfrm>
          <a:prstGeom prst="rect">
            <a:avLst/>
          </a:prstGeom>
          <a:noFill/>
          <a:ln/>
        </p:spPr>
        <p:txBody>
          <a:bodyPr wrap="square" lIns="0" tIns="0" rIns="0" bIns="0" rtlCol="0" anchor="ctr"/>
          <a:lstStyle/>
          <a:p>
            <a:pPr marL="0" indent="0">
              <a:buNone/>
            </a:pPr>
            <a:r>
              <a:rPr lang="en-US" sz="1600" b="1" dirty="0">
                <a:solidFill>
                  <a:srgbClr val="1F3A5F"/>
                </a:solidFill>
                <a:latin typeface="Aptos Display" pitchFamily="34" charset="0"/>
                <a:ea typeface="Aptos Display" pitchFamily="34" charset="-122"/>
                <a:cs typeface="Aptos Display" pitchFamily="34" charset="-120"/>
              </a:rPr>
              <a:t>Measure outcomes</a:t>
            </a:r>
            <a:endParaRPr lang="en-US" sz="1600" dirty="0"/>
          </a:p>
        </p:txBody>
      </p:sp>
      <p:sp>
        <p:nvSpPr>
          <p:cNvPr id="22" name="Text 20"/>
          <p:cNvSpPr/>
          <p:nvPr/>
        </p:nvSpPr>
        <p:spPr>
          <a:xfrm>
            <a:off x="8321040" y="4050792"/>
            <a:ext cx="2679192" cy="1225296"/>
          </a:xfrm>
          <a:prstGeom prst="rect">
            <a:avLst/>
          </a:prstGeom>
          <a:noFill/>
          <a:ln/>
        </p:spPr>
        <p:txBody>
          <a:bodyPr wrap="square" lIns="254" tIns="254" rIns="254" bIns="254" rtlCol="0" anchor="t">
            <a:normAutofit/>
          </a:bodyPr>
          <a:lstStyle/>
          <a:p>
            <a:pPr marL="0" indent="0">
              <a:buNone/>
            </a:pPr>
            <a:r>
              <a:rPr lang="en-US" sz="1150" dirty="0">
                <a:solidFill>
                  <a:srgbClr val="1F2937"/>
                </a:solidFill>
                <a:latin typeface="Aptos" pitchFamily="34" charset="0"/>
                <a:ea typeface="Aptos" pitchFamily="34" charset="-122"/>
                <a:cs typeface="Aptos" pitchFamily="34" charset="-120"/>
              </a:rPr>
              <a:t>Evaluate delivery speed, defect trends, stakeholder satisfaction, and the team’s ability to respond to change during rollout.</a:t>
            </a:r>
            <a:endParaRPr lang="en-US" sz="1150" dirty="0"/>
          </a:p>
        </p:txBody>
      </p:sp>
      <p:sp>
        <p:nvSpPr>
          <p:cNvPr id="23" name="Text 21"/>
          <p:cNvSpPr/>
          <p:nvPr/>
        </p:nvSpPr>
        <p:spPr>
          <a:xfrm>
            <a:off x="960120" y="5833872"/>
            <a:ext cx="10241280" cy="320040"/>
          </a:xfrm>
          <a:prstGeom prst="rect">
            <a:avLst/>
          </a:prstGeom>
          <a:noFill/>
          <a:ln/>
        </p:spPr>
        <p:txBody>
          <a:bodyPr wrap="square" lIns="0" tIns="0" rIns="0" bIns="0" rtlCol="0" anchor="ctr">
            <a:normAutofit fontScale="85000" lnSpcReduction="10000"/>
          </a:bodyPr>
          <a:lstStyle/>
          <a:p>
            <a:pPr marL="0" indent="0" algn="ctr">
              <a:buNone/>
            </a:pPr>
            <a:r>
              <a:rPr lang="en-US" sz="1550" b="1" dirty="0">
                <a:solidFill>
                  <a:srgbClr val="1F3A5F"/>
                </a:solidFill>
                <a:latin typeface="Aptos Display" pitchFamily="34" charset="0"/>
                <a:ea typeface="Aptos Display" pitchFamily="34" charset="-122"/>
                <a:cs typeface="Aptos Display" pitchFamily="34" charset="-120"/>
              </a:rPr>
              <a:t>Bottom line: Chada Tech should move forward with Agile for projects like SNHU Travel because adaptability and feedback are central to success.</a:t>
            </a:r>
            <a:endParaRPr lang="en-US" sz="1550" dirty="0"/>
          </a:p>
        </p:txBody>
      </p:sp>
      <p:sp>
        <p:nvSpPr>
          <p:cNvPr id="24" name="Text 22"/>
          <p:cNvSpPr/>
          <p:nvPr/>
        </p:nvSpPr>
        <p:spPr>
          <a:xfrm>
            <a:off x="640080" y="6245352"/>
            <a:ext cx="10881360" cy="182880"/>
          </a:xfrm>
          <a:prstGeom prst="rect">
            <a:avLst/>
          </a:prstGeom>
          <a:noFill/>
          <a:ln/>
        </p:spPr>
        <p:txBody>
          <a:bodyPr wrap="square" lIns="0" tIns="0" rIns="0" bIns="0" rtlCol="0" anchor="ctr">
            <a:normAutofit/>
          </a:bodyPr>
          <a:lstStyle/>
          <a:p>
            <a:pPr marL="0" indent="0">
              <a:buNone/>
            </a:pPr>
            <a:r>
              <a:rPr lang="en-US" sz="830" i="1" dirty="0">
                <a:solidFill>
                  <a:srgbClr val="64748B"/>
                </a:solidFill>
                <a:latin typeface="Aptos" pitchFamily="34" charset="0"/>
                <a:ea typeface="Aptos" pitchFamily="34" charset="-122"/>
                <a:cs typeface="Aptos" pitchFamily="34" charset="-120"/>
              </a:rPr>
              <a:t>Sources: Malmstadt (2024); Microsoft (2026); Tozzi (2024).</a:t>
            </a:r>
            <a:endParaRPr lang="en-US" sz="830" dirty="0"/>
          </a:p>
        </p:txBody>
      </p:sp>
      <p:sp>
        <p:nvSpPr>
          <p:cNvPr id="25" name="Slide Number Placeholder 0"/>
          <p:cNvSpPr>
            <a:spLocks noGrp="1"/>
          </p:cNvSpPr>
          <p:nvPr>
            <p:ph type="sldNum" sz="quarter" idx="4294967295"/>
          </p:nvPr>
        </p:nvSpPr>
        <p:spPr>
          <a:xfrm>
            <a:off x="11686032" y="6501384"/>
            <a:ext cx="22860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Aptos"/>
                <a:ea typeface="Aptos"/>
                <a:cs typeface="Aptos"/>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94360" y="438912"/>
            <a:ext cx="10881360" cy="411480"/>
          </a:xfrm>
          <a:prstGeom prst="rect">
            <a:avLst/>
          </a:prstGeom>
          <a:noFill/>
          <a:ln/>
        </p:spPr>
        <p:txBody>
          <a:bodyPr wrap="square" lIns="0" tIns="0" rIns="0" bIns="0" rtlCol="0" anchor="ctr"/>
          <a:lstStyle/>
          <a:p>
            <a:pPr marL="0" indent="0">
              <a:buNone/>
            </a:pPr>
            <a:r>
              <a:rPr lang="en-US" sz="2600" b="1" dirty="0">
                <a:solidFill>
                  <a:srgbClr val="1F3A5F"/>
                </a:solidFill>
                <a:latin typeface="Aptos Display" pitchFamily="34" charset="0"/>
                <a:ea typeface="Aptos Display" pitchFamily="34" charset="-122"/>
                <a:cs typeface="Aptos Display" pitchFamily="34" charset="-120"/>
              </a:rPr>
              <a:t>References</a:t>
            </a:r>
            <a:endParaRPr lang="en-US" sz="2600" dirty="0"/>
          </a:p>
        </p:txBody>
      </p:sp>
      <p:sp>
        <p:nvSpPr>
          <p:cNvPr id="4" name="Text 2"/>
          <p:cNvSpPr/>
          <p:nvPr/>
        </p:nvSpPr>
        <p:spPr>
          <a:xfrm>
            <a:off x="822960" y="1371600"/>
            <a:ext cx="10515600" cy="621792"/>
          </a:xfrm>
          <a:prstGeom prst="rect">
            <a:avLst/>
          </a:prstGeom>
          <a:noFill/>
          <a:ln/>
        </p:spPr>
        <p:txBody>
          <a:bodyPr wrap="square" lIns="254" tIns="254" rIns="254" bIns="254" rtlCol="0" anchor="ctr">
            <a:normAutofit/>
          </a:bodyPr>
          <a:lstStyle/>
          <a:p>
            <a:pPr marL="0" indent="0">
              <a:buNone/>
            </a:pPr>
            <a:r>
              <a:rPr lang="en-US" sz="1080" dirty="0">
                <a:solidFill>
                  <a:srgbClr val="1F2937"/>
                </a:solidFill>
                <a:latin typeface="Aptos" pitchFamily="34" charset="0"/>
                <a:ea typeface="Aptos" pitchFamily="34" charset="-122"/>
                <a:cs typeface="Aptos" pitchFamily="34" charset="-120"/>
              </a:rPr>
              <a:t>Kirvan, P., Lutkevich, B., &amp; Lewis, S. (November, 2024). </a:t>
            </a:r>
            <a:r>
              <a:rPr lang="en-US" sz="1080" i="1" dirty="0">
                <a:solidFill>
                  <a:srgbClr val="1F2937"/>
                </a:solidFill>
                <a:latin typeface="Aptos" pitchFamily="34" charset="0"/>
                <a:ea typeface="Aptos" pitchFamily="34" charset="-122"/>
                <a:cs typeface="Aptos" pitchFamily="34" charset="-120"/>
              </a:rPr>
              <a:t>What is a Waterfall model? Definition and guide. </a:t>
            </a:r>
            <a:r>
              <a:rPr lang="en-US" sz="1080" dirty="0">
                <a:solidFill>
                  <a:srgbClr val="1F2937"/>
                </a:solidFill>
                <a:latin typeface="Aptos" pitchFamily="34" charset="0"/>
                <a:ea typeface="Aptos" pitchFamily="34" charset="-122"/>
                <a:cs typeface="Aptos" pitchFamily="34" charset="-120"/>
              </a:rPr>
              <a:t>TechTarget. https://www.techtarget.com/it-infrastructure/definition/What-is-a-Waterfall-model-Definition-and-guide</a:t>
            </a:r>
            <a:endParaRPr lang="en-US" sz="1080" dirty="0"/>
          </a:p>
        </p:txBody>
      </p:sp>
      <p:sp>
        <p:nvSpPr>
          <p:cNvPr id="5" name="Text 3"/>
          <p:cNvSpPr/>
          <p:nvPr/>
        </p:nvSpPr>
        <p:spPr>
          <a:xfrm>
            <a:off x="822960" y="2130552"/>
            <a:ext cx="10515600" cy="621792"/>
          </a:xfrm>
          <a:prstGeom prst="rect">
            <a:avLst/>
          </a:prstGeom>
          <a:noFill/>
          <a:ln/>
        </p:spPr>
        <p:txBody>
          <a:bodyPr wrap="square" lIns="254" tIns="254" rIns="254" bIns="254" rtlCol="0" anchor="ctr">
            <a:normAutofit/>
          </a:bodyPr>
          <a:lstStyle/>
          <a:p>
            <a:pPr marL="0" indent="0">
              <a:buNone/>
            </a:pPr>
            <a:r>
              <a:rPr lang="en-US" sz="1080" dirty="0">
                <a:solidFill>
                  <a:srgbClr val="1F2937"/>
                </a:solidFill>
                <a:latin typeface="Aptos" pitchFamily="34" charset="0"/>
                <a:ea typeface="Aptos" pitchFamily="34" charset="-122"/>
                <a:cs typeface="Aptos" pitchFamily="34" charset="-120"/>
              </a:rPr>
              <a:t>Malmstadt, J. (May, 2024). </a:t>
            </a:r>
            <a:r>
              <a:rPr lang="en-US" sz="1080" i="1" dirty="0">
                <a:solidFill>
                  <a:srgbClr val="1F2937"/>
                </a:solidFill>
                <a:latin typeface="Aptos" pitchFamily="34" charset="0"/>
                <a:ea typeface="Aptos" pitchFamily="34" charset="-122"/>
                <a:cs typeface="Aptos" pitchFamily="34" charset="-120"/>
              </a:rPr>
              <a:t>How do Scrum roles drive team success? </a:t>
            </a:r>
            <a:r>
              <a:rPr lang="en-US" sz="1080" dirty="0">
                <a:solidFill>
                  <a:srgbClr val="1F2937"/>
                </a:solidFill>
                <a:latin typeface="Aptos" pitchFamily="34" charset="0"/>
                <a:ea typeface="Aptos" pitchFamily="34" charset="-122"/>
                <a:cs typeface="Aptos" pitchFamily="34" charset="-120"/>
              </a:rPr>
              <a:t>Scrum.org. https://www.scrum.org/resources/blog/how-do-scrum-roles-drive-team-success</a:t>
            </a:r>
            <a:endParaRPr lang="en-US" sz="1080" dirty="0"/>
          </a:p>
        </p:txBody>
      </p:sp>
      <p:sp>
        <p:nvSpPr>
          <p:cNvPr id="6" name="Text 4"/>
          <p:cNvSpPr/>
          <p:nvPr/>
        </p:nvSpPr>
        <p:spPr>
          <a:xfrm>
            <a:off x="822960" y="2889504"/>
            <a:ext cx="10515600" cy="621792"/>
          </a:xfrm>
          <a:prstGeom prst="rect">
            <a:avLst/>
          </a:prstGeom>
          <a:noFill/>
          <a:ln/>
        </p:spPr>
        <p:txBody>
          <a:bodyPr wrap="square" lIns="254" tIns="254" rIns="254" bIns="254" rtlCol="0" anchor="ctr">
            <a:normAutofit/>
          </a:bodyPr>
          <a:lstStyle/>
          <a:p>
            <a:pPr marL="0" indent="0">
              <a:buNone/>
            </a:pPr>
            <a:r>
              <a:rPr lang="en-US" sz="1080" dirty="0">
                <a:solidFill>
                  <a:srgbClr val="1F2937"/>
                </a:solidFill>
                <a:latin typeface="Aptos" pitchFamily="34" charset="0"/>
                <a:ea typeface="Aptos" pitchFamily="34" charset="-122"/>
                <a:cs typeface="Aptos" pitchFamily="34" charset="-120"/>
              </a:rPr>
              <a:t>Microsoft. (November, 2022). </a:t>
            </a:r>
            <a:r>
              <a:rPr lang="en-US" sz="1080" i="1" dirty="0">
                <a:solidFill>
                  <a:srgbClr val="1F2937"/>
                </a:solidFill>
                <a:latin typeface="Aptos" pitchFamily="34" charset="0"/>
                <a:ea typeface="Aptos" pitchFamily="34" charset="-122"/>
                <a:cs typeface="Aptos" pitchFamily="34" charset="-120"/>
              </a:rPr>
              <a:t>What is Agile development? </a:t>
            </a:r>
            <a:r>
              <a:rPr lang="en-US" sz="1080" dirty="0">
                <a:solidFill>
                  <a:srgbClr val="1F2937"/>
                </a:solidFill>
                <a:latin typeface="Aptos" pitchFamily="34" charset="0"/>
                <a:ea typeface="Aptos" pitchFamily="34" charset="-122"/>
                <a:cs typeface="Aptos" pitchFamily="34" charset="-120"/>
              </a:rPr>
              <a:t>Microsoft Learn. https://learn.microsoft.com/en-us/devops/plan/what-is-agile-development</a:t>
            </a:r>
            <a:endParaRPr lang="en-US" sz="1080" dirty="0"/>
          </a:p>
        </p:txBody>
      </p:sp>
      <p:sp>
        <p:nvSpPr>
          <p:cNvPr id="7" name="Text 5"/>
          <p:cNvSpPr/>
          <p:nvPr/>
        </p:nvSpPr>
        <p:spPr>
          <a:xfrm>
            <a:off x="822960" y="3648456"/>
            <a:ext cx="10515600" cy="621792"/>
          </a:xfrm>
          <a:prstGeom prst="rect">
            <a:avLst/>
          </a:prstGeom>
          <a:noFill/>
          <a:ln/>
        </p:spPr>
        <p:txBody>
          <a:bodyPr wrap="square" lIns="254" tIns="254" rIns="254" bIns="254" rtlCol="0" anchor="ctr">
            <a:normAutofit/>
          </a:bodyPr>
          <a:lstStyle/>
          <a:p>
            <a:pPr marL="0" indent="0">
              <a:buNone/>
            </a:pPr>
            <a:r>
              <a:rPr lang="en-US" sz="1080" dirty="0">
                <a:solidFill>
                  <a:srgbClr val="1F2937"/>
                </a:solidFill>
                <a:latin typeface="Aptos" pitchFamily="34" charset="0"/>
                <a:ea typeface="Aptos" pitchFamily="34" charset="-122"/>
                <a:cs typeface="Aptos" pitchFamily="34" charset="-120"/>
              </a:rPr>
              <a:t>Microsoft. (September, 2025). </a:t>
            </a:r>
            <a:r>
              <a:rPr lang="en-US" sz="1080" i="1" dirty="0">
                <a:solidFill>
                  <a:srgbClr val="1F2937"/>
                </a:solidFill>
                <a:latin typeface="Aptos" pitchFamily="34" charset="0"/>
                <a:ea typeface="Aptos" pitchFamily="34" charset="-122"/>
                <a:cs typeface="Aptos" pitchFamily="34" charset="-120"/>
              </a:rPr>
              <a:t>Microsoft Security Development Lifecycle (SDL). </a:t>
            </a:r>
            <a:r>
              <a:rPr lang="en-US" sz="1080" dirty="0">
                <a:solidFill>
                  <a:srgbClr val="1F2937"/>
                </a:solidFill>
                <a:latin typeface="Aptos" pitchFamily="34" charset="0"/>
                <a:ea typeface="Aptos" pitchFamily="34" charset="-122"/>
                <a:cs typeface="Aptos" pitchFamily="34" charset="-120"/>
              </a:rPr>
              <a:t>Microsoft Learn. https://learn.microsoft.com/en-us/compliance/assurance/assurance-microsoft-security-development-lifecycle</a:t>
            </a:r>
            <a:endParaRPr lang="en-US" sz="1080" dirty="0"/>
          </a:p>
        </p:txBody>
      </p:sp>
      <p:sp>
        <p:nvSpPr>
          <p:cNvPr id="8" name="Text 6"/>
          <p:cNvSpPr/>
          <p:nvPr/>
        </p:nvSpPr>
        <p:spPr>
          <a:xfrm>
            <a:off x="822960" y="4407408"/>
            <a:ext cx="10515600" cy="621792"/>
          </a:xfrm>
          <a:prstGeom prst="rect">
            <a:avLst/>
          </a:prstGeom>
          <a:noFill/>
          <a:ln/>
        </p:spPr>
        <p:txBody>
          <a:bodyPr wrap="square" lIns="254" tIns="254" rIns="254" bIns="254" rtlCol="0" anchor="ctr">
            <a:normAutofit/>
          </a:bodyPr>
          <a:lstStyle/>
          <a:p>
            <a:pPr marL="0" indent="0">
              <a:buNone/>
            </a:pPr>
            <a:r>
              <a:rPr lang="en-US" sz="1080" dirty="0">
                <a:solidFill>
                  <a:srgbClr val="1F2937"/>
                </a:solidFill>
                <a:latin typeface="Aptos" pitchFamily="34" charset="0"/>
                <a:ea typeface="Aptos" pitchFamily="34" charset="-122"/>
                <a:cs typeface="Aptos" pitchFamily="34" charset="-120"/>
              </a:rPr>
              <a:t>Microsoft. (June, 2026). </a:t>
            </a:r>
            <a:r>
              <a:rPr lang="en-US" sz="1080" i="1" dirty="0">
                <a:solidFill>
                  <a:srgbClr val="1F2937"/>
                </a:solidFill>
                <a:latin typeface="Aptos" pitchFamily="34" charset="0"/>
                <a:ea typeface="Aptos" pitchFamily="34" charset="-122"/>
                <a:cs typeface="Aptos" pitchFamily="34" charset="-120"/>
              </a:rPr>
              <a:t>Best practices for Agile product management. </a:t>
            </a:r>
            <a:r>
              <a:rPr lang="en-US" sz="1080" dirty="0">
                <a:solidFill>
                  <a:srgbClr val="1F2937"/>
                </a:solidFill>
                <a:latin typeface="Aptos" pitchFamily="34" charset="0"/>
                <a:ea typeface="Aptos" pitchFamily="34" charset="-122"/>
                <a:cs typeface="Aptos" pitchFamily="34" charset="-120"/>
              </a:rPr>
              <a:t>Microsoft Learn. https://learn.microsoft.com/en-us/azure/devops/boards/best-practices-agile-project-management</a:t>
            </a:r>
            <a:endParaRPr lang="en-US" sz="1080" dirty="0"/>
          </a:p>
        </p:txBody>
      </p:sp>
      <p:sp>
        <p:nvSpPr>
          <p:cNvPr id="9" name="Text 7"/>
          <p:cNvSpPr/>
          <p:nvPr/>
        </p:nvSpPr>
        <p:spPr>
          <a:xfrm>
            <a:off x="822960" y="5166360"/>
            <a:ext cx="10515600" cy="621792"/>
          </a:xfrm>
          <a:prstGeom prst="rect">
            <a:avLst/>
          </a:prstGeom>
          <a:noFill/>
          <a:ln/>
        </p:spPr>
        <p:txBody>
          <a:bodyPr wrap="square" lIns="254" tIns="254" rIns="254" bIns="254" rtlCol="0" anchor="ctr">
            <a:normAutofit/>
          </a:bodyPr>
          <a:lstStyle/>
          <a:p>
            <a:pPr marL="0" indent="0">
              <a:buNone/>
            </a:pPr>
            <a:r>
              <a:rPr lang="en-US" sz="1080" dirty="0">
                <a:solidFill>
                  <a:srgbClr val="1F2937"/>
                </a:solidFill>
                <a:latin typeface="Aptos" pitchFamily="34" charset="0"/>
                <a:ea typeface="Aptos" pitchFamily="34" charset="-122"/>
                <a:cs typeface="Aptos" pitchFamily="34" charset="-120"/>
              </a:rPr>
              <a:t>Tozzi, C. (May, 2024). </a:t>
            </a:r>
            <a:r>
              <a:rPr lang="en-US" sz="1080" i="1" dirty="0">
                <a:solidFill>
                  <a:srgbClr val="1F2937"/>
                </a:solidFill>
                <a:latin typeface="Aptos" pitchFamily="34" charset="0"/>
                <a:ea typeface="Aptos" pitchFamily="34" charset="-122"/>
                <a:cs typeface="Aptos" pitchFamily="34" charset="-120"/>
              </a:rPr>
              <a:t>Waterfall vs. Agile methodology: Differences and examples. </a:t>
            </a:r>
            <a:r>
              <a:rPr lang="en-US" sz="1080" dirty="0">
                <a:solidFill>
                  <a:srgbClr val="1F2937"/>
                </a:solidFill>
                <a:latin typeface="Aptos" pitchFamily="34" charset="0"/>
                <a:ea typeface="Aptos" pitchFamily="34" charset="-122"/>
                <a:cs typeface="Aptos" pitchFamily="34" charset="-120"/>
              </a:rPr>
              <a:t>TechTarget. https://www.techtarget.com/it-infrastructure/tip/Waterfall-vs-Agile-methodology-Differences-and-examples</a:t>
            </a:r>
            <a:endParaRPr lang="en-US" sz="1080" dirty="0"/>
          </a:p>
        </p:txBody>
      </p:sp>
      <p:sp>
        <p:nvSpPr>
          <p:cNvPr id="25" name="Slide Number Placeholder 0"/>
          <p:cNvSpPr>
            <a:spLocks noGrp="1"/>
          </p:cNvSpPr>
          <p:nvPr>
            <p:ph type="sldNum" sz="quarter" idx="4294967295"/>
          </p:nvPr>
        </p:nvSpPr>
        <p:spPr>
          <a:xfrm>
            <a:off x="11686032" y="6501384"/>
            <a:ext cx="22860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Aptos"/>
                <a:ea typeface="Aptos"/>
                <a:cs typeface="Aptos"/>
              </a:defRPr>
            </a:lvl1pPr>
          </a:lstStyle>
          <a:p>
            <a:pPr algn="l"/>
            <a:fld id="{F7021451-1387-4CA6-816F-3879F97B5CBC}" type="slidenum">
              <a:rPr lang="en-US" b="0"/>
              <a:t>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1111</Words>
  <Application>Microsoft Office PowerPoint</Application>
  <PresentationFormat>Widescreen</PresentationFormat>
  <Paragraphs>120</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ChadaTech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Scrum-Agile vs. Waterfall: Lessons from SNHU Travel</dc:title>
  <dc:subject>CS 250 Agile Presentation</dc:subject>
  <dc:creator>Erik Caswell</dc:creator>
  <cp:lastModifiedBy>Erik Caswell</cp:lastModifiedBy>
  <cp:revision>3</cp:revision>
  <dcterms:created xsi:type="dcterms:W3CDTF">2026-08-13T14:14:38Z</dcterms:created>
  <dcterms:modified xsi:type="dcterms:W3CDTF">2026-08-13T14:33:05Z</dcterms:modified>
</cp:coreProperties>
</file>